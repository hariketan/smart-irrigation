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20104100" cy="11309350"/>
  <p:notesSz cx="20104100" cy="113093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D60BB0-4D1A-464A-8221-9BD2559F573C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18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2F98A7-8038-45CE-9950-FA14CB61FC4A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19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BE7C15-D545-476A-A2AB-C525AC7A5B63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20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2AE41E-0470-48AC-8FC6-2983EAF4E24F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21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1EE818-EA94-42A9-9E1C-C27DD0244E93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22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E4023B-4077-4633-A1C6-C5792F283ECB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23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BA59F9-EEF1-4B11-88C9-AB9C7D79BE00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24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016C82-EA5C-44B3-BC65-E6D9C9AF59BE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25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99DF5C-33E8-4394-86DC-9AFA6E2BCFB3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26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AE8DEC-F42C-4E08-975F-B3E5804A4E16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27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4916FA-933C-49A4-97A5-7E9CBAC97365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281640" y="847800"/>
            <a:ext cx="7540200" cy="42415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2009880" y="5372280"/>
            <a:ext cx="16084080" cy="50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28"/>
          </p:nvPr>
        </p:nvSpPr>
        <p:spPr>
          <a:xfrm>
            <a:off x="11387160" y="10742760"/>
            <a:ext cx="8712000" cy="56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3C8B7D-4D52-4271-9D9F-B9646EA96D4C}" type="slidenum">
              <a:rPr b="0" lang="en-IN" sz="1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2240" cy="12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56560" y="4084560"/>
            <a:ext cx="1873224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5FFB761-D84C-4977-AD02-3C23719C68F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2240" cy="12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56560" y="4084560"/>
            <a:ext cx="1873224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BA6FD4F-3072-44EE-95AF-28023FDDD1E2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2240" cy="12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56560" y="4084560"/>
            <a:ext cx="1873224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A82C59-11F4-4ED8-B6F9-7F4664DC47A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1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3800" cy="14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13;p1" descr=""/>
          <p:cNvPicPr/>
          <p:nvPr/>
        </p:nvPicPr>
        <p:blipFill>
          <a:blip r:embed="rId4"/>
          <a:stretch/>
        </p:blipFill>
        <p:spPr>
          <a:xfrm>
            <a:off x="7614360" y="10400400"/>
            <a:ext cx="4874400" cy="74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6;p2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" name="Google Shape;17;p2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440" y="1636920"/>
            <a:ext cx="18732240" cy="45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926DDF-A2CA-4E9D-8E03-0C860AED0AB4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1005120" y="2646360"/>
            <a:ext cx="18093240" cy="65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  <p:sldLayoutId id="2147483650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1;p3" descr=""/>
          <p:cNvPicPr/>
          <p:nvPr/>
        </p:nvPicPr>
        <p:blipFill>
          <a:blip r:embed="rId3"/>
          <a:stretch/>
        </p:blipFill>
        <p:spPr>
          <a:xfrm>
            <a:off x="474840" y="474840"/>
            <a:ext cx="3313800" cy="142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Google Shape;25;p3" descr=""/>
          <p:cNvPicPr/>
          <p:nvPr/>
        </p:nvPicPr>
        <p:blipFill>
          <a:blip r:embed="rId4"/>
          <a:stretch/>
        </p:blipFill>
        <p:spPr>
          <a:xfrm>
            <a:off x="15354360" y="912600"/>
            <a:ext cx="4338720" cy="65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61120" y="2054160"/>
            <a:ext cx="18732240" cy="12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56560" y="4084560"/>
            <a:ext cx="1873224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2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0D07B4-90AC-4F0A-AF90-DADD43C57886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43;p26"/>
          <p:cNvSpPr/>
          <p:nvPr/>
        </p:nvSpPr>
        <p:spPr>
          <a:xfrm>
            <a:off x="5603760" y="1336680"/>
            <a:ext cx="145800" cy="147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  <a:ea typeface="Calibri"/>
            </a:endParaRPr>
          </a:p>
        </p:txBody>
      </p:sp>
      <p:sp>
        <p:nvSpPr>
          <p:cNvPr id="25" name="Google Shape;145;p26"/>
          <p:cNvSpPr/>
          <p:nvPr/>
        </p:nvSpPr>
        <p:spPr>
          <a:xfrm>
            <a:off x="527040" y="3254400"/>
            <a:ext cx="18897120" cy="69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1RV23MC039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HARI KETAN 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Under the Guidance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Of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Dr. Renuka Prasad B              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Associate Professor                                     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Department of MCA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                                 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r>
              <a:rPr b="0" lang="en-IN" sz="5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	</a:t>
            </a:r>
            <a:r>
              <a:rPr b="0" lang="en-IN" sz="50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    </a:t>
            </a:r>
            <a:endParaRPr b="0" lang="en-US" sz="5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6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8E2511-71FE-420E-91F8-D6544347B79A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Google Shape;38;p1"/>
          <p:cNvSpPr/>
          <p:nvPr/>
        </p:nvSpPr>
        <p:spPr>
          <a:xfrm>
            <a:off x="4599360" y="351000"/>
            <a:ext cx="10901520" cy="13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6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Major Project – MCA491P</a:t>
            </a:r>
            <a:endParaRPr b="0" lang="en-U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Google Shape;35;p1"/>
          <p:cNvSpPr/>
          <p:nvPr/>
        </p:nvSpPr>
        <p:spPr>
          <a:xfrm>
            <a:off x="4443840" y="2008080"/>
            <a:ext cx="11212920" cy="139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IoT Based Smart Irrigation in Arecanut Farms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2"/>
          <a:stretch/>
        </p:blipFill>
        <p:spPr>
          <a:xfrm>
            <a:off x="13910760" y="7093440"/>
            <a:ext cx="4224960" cy="241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53;p27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1" name="Google Shape;154;p27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7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E23394-05BF-431D-BD47-DFCC4C082B62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Google Shape;156;p27"/>
          <p:cNvSpPr/>
          <p:nvPr/>
        </p:nvSpPr>
        <p:spPr>
          <a:xfrm>
            <a:off x="1008000" y="1692360"/>
            <a:ext cx="18527400" cy="88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Introduction and Objectives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Implementation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Testing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Results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Conclusion  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2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References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57;p27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Agenda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63;p28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6" name="Google Shape;164;p28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sldNum" idx="8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9BE52C-38AF-49F2-A418-87C9F9B1E278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Google Shape;166;p28"/>
          <p:cNvSpPr/>
          <p:nvPr/>
        </p:nvSpPr>
        <p:spPr>
          <a:xfrm>
            <a:off x="1008000" y="2079720"/>
            <a:ext cx="18527400" cy="23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Introduction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Arecanut is a vital commercial crop in India, especially in states like Karnataka, Kerala, and Tamil Nadu, where it supports thousands of small and medium-scale farmers.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Traditional irrigation methods for arecanut farms are mostly manual, leading to water wastage, inconsistent irrigation, and higher labor dependency.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This project aims to build a smart irrigation system that automates and optimizes water usage based on real-time soil and environmental conditions.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The system is designed to promote precision agriculture, improving crop yield while conserving water and reducing human effort.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It uses a rule-based irrigation logic inspired by the Soil Moisture Deficit (SMD) model to determine when and how much to irrigate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    </a:t>
            </a:r>
            <a:r>
              <a:rPr b="1" lang="en-US" sz="32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Objective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To develop an IoT-based smart irrigation system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Automate irrigation in arecanut farms using IoT devices to reduce manual work.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Monitor soil moisture and water flow using sensors to ensure proper watering.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Control water flow with a motorized valve based on real-time sensor readings.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Display live data on a web interface to help farmers monitor conditions remotely.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71680" indent="-5716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Set irrigation schedules using simple rule-based logic based on crop needs.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Google Shape;167;p28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Introduction and Objectives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183;p30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41" name="Google Shape;184;p30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9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D87C8F-100B-497D-806C-60834E6DA2BA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Google Shape;186;p30"/>
          <p:cNvSpPr/>
          <p:nvPr/>
        </p:nvSpPr>
        <p:spPr>
          <a:xfrm>
            <a:off x="995400" y="2113560"/>
            <a:ext cx="18527400" cy="901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Soil Moisture Monitoring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continuously measure soil moisture and determine irrigation need.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Analog signal from capacitive soil moisture sensor.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Converts sensor data to digital, compares against threshold, sends to backend.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Moisture percentage, timestamp, and section ID pushed via MQTT.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Water Requirement Calculation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fetch the ideal water requirement for a section based on crop age, month, and soil.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Soil type, current month, plant age (from planting date).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Fetches required value from Water_Requirement table.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Ideal liters/day/palm value used by decision logic.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Irrigation Control (Auto/Manual)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control the valve state based on logic or manual command.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Mode (AUTO/MANUAL), moisture value, required water, user input.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If AUTO: checks if moisture &lt; threshold; triggers relay via Raspberry Pi. If MANUAL: user control overrides logic.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Valve ON/OFF signal, recorded in control log.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Module Name: Water Flow Monitoring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Purpose: To measure actual water delivered during irrigation.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Input: Digital pulses from flow sensor (YF-S201).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Process: Converts pulses to L/min, multiplies by duration to get volume.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Output: Water volume in liters; logs for accuracy tracking.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Google Shape;187;p30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Implementation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93;p31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46" name="Google Shape;194;p31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10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9916B9E-7B0F-4675-AF80-F86C7CB02DE9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Google Shape;196;p31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Testing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49" name="Google Shape;197;p31"/>
          <p:cNvGraphicFramePr/>
          <p:nvPr/>
        </p:nvGraphicFramePr>
        <p:xfrm>
          <a:off x="1892160" y="2315160"/>
          <a:ext cx="16940520" cy="7316640"/>
        </p:xfrm>
        <a:graphic>
          <a:graphicData uri="http://schemas.openxmlformats.org/drawingml/2006/table">
            <a:tbl>
              <a:tblPr/>
              <a:tblGrid>
                <a:gridCol w="1168200"/>
                <a:gridCol w="2685960"/>
                <a:gridCol w="3388320"/>
                <a:gridCol w="3778560"/>
                <a:gridCol w="3262320"/>
                <a:gridCol w="2657520"/>
              </a:tblGrid>
              <a:tr h="156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Test Case_ID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Feature Tested 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 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Sample Input 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Expected Output 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Actual Output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600" strike="noStrike" u="none">
                          <a:solidFill>
                            <a:schemeClr val="lt1"/>
                          </a:solidFill>
                          <a:uFillTx/>
                          <a:latin typeface="Arial"/>
                          <a:ea typeface="Arial"/>
                        </a:rPr>
                        <a:t>Remarks (Pass/Fail)</a:t>
                      </a:r>
                      <a:endParaRPr b="0" lang="en-US" sz="26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333440"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TC_1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 Registration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Name: "Test Farmer" 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Email: "farmer@gmail.com" 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Password: "Pass123!"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User account is successfully created in the database. A "Registration Successful" message is displayed. The user is redirected to the login page.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“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Registration Successful" message is displayed. The user is redirected to the login page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1333440"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TC_2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 Registration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Name: "Another Farmer"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Email: " 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farmer@gmail.com"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(Email already exists in the system)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Registration is denied. An error message "Email is already registered" is displayed to the user. The user remains on the registration page.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Email is already registered" is displayed to the user. The user remains on the registration page.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1333440"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TC_3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 Login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Email: "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farmer@gmail.com"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Password: "Pass123!"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The user is successfully authenticated. The system redirects the user to the main dashboard.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Login Successful and redirects to the dashboard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  <a:tr h="1333440"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</a:rPr>
                        <a:t>TC_4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 Login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Email: "</a:t>
                      </a: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farmer@gmail.com" 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Password: "AnyPassword"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Authentication fails. A generic error message "Invalid email or password" is displayed.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Login Unsuccessful and stays in the same page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uFillTx/>
                          <a:latin typeface="Arial"/>
                          <a:ea typeface="Arial"/>
                        </a:rPr>
                        <a:t>Pass</a:t>
                      </a:r>
                      <a:endParaRPr b="0" lang="en-US" sz="1800" strike="noStrike" u="none">
                        <a:solidFill>
                          <a:schemeClr val="dk1"/>
                        </a:solidFill>
                        <a:uFillTx/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dd8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204;p32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51" name="Google Shape;205;p32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11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433594-6016-447F-8E0B-849603B10B8C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Google Shape;207;p32"/>
          <p:cNvSpPr/>
          <p:nvPr/>
        </p:nvSpPr>
        <p:spPr>
          <a:xfrm>
            <a:off x="995400" y="2378160"/>
            <a:ext cx="18527400" cy="55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Obtained results (Articulate the results obtained)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To develop an IoT-based smart irrigation system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Control water flow with a motorized valve based on real-time sensor readings.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Automate irrigation in arecanut farms using IoT devices to reduce manual work.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Google Shape;208;p32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Results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214;p33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56" name="Google Shape;215;p33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ldNum" idx="12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D4D155-E7FA-4429-9364-52344D74A84F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Google Shape;218;p33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 shots of Results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109160" y="2093400"/>
            <a:ext cx="16775280" cy="816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214;p 1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1" name="Google Shape;215;p 1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13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D26A02-1CD7-44B7-B0A6-4F6A4C1DD7DF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3" name="Google Shape;218;p 1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 shots of Results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720080" y="2115000"/>
            <a:ext cx="16777800" cy="816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214;p 2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6" name="Google Shape;215;p 2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sldNum" idx="14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4BB495-6D23-4848-B9FC-CBB1379C2F06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Google Shape;218;p 2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Screen shots of Results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1450080" y="2026800"/>
            <a:ext cx="16578720" cy="806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214;p33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71" name="Google Shape;215;p33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969840" y="2742120"/>
            <a:ext cx="18732240" cy="751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57200" indent="-280080">
              <a:lnSpc>
                <a:spcPct val="90000"/>
              </a:lnSpc>
              <a:spcBef>
                <a:spcPts val="3115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n-US" sz="30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Specify the conclusion pointwise</a:t>
            </a:r>
            <a:endParaRPr b="0" lang="en-US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15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5B706E-4F93-4CD4-8F2D-719DB69F97EC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Google Shape;217;p33"/>
          <p:cNvSpPr/>
          <p:nvPr/>
        </p:nvSpPr>
        <p:spPr>
          <a:xfrm>
            <a:off x="969840" y="2301840"/>
            <a:ext cx="18527400" cy="50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Google Shape;218;p33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Conclusion  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214;p33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77" name="Google Shape;215;p33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sldNum" idx="16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050AD8-4388-4A3D-88F9-99F64800F0F4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9" name="Google Shape;217;p33"/>
          <p:cNvSpPr/>
          <p:nvPr/>
        </p:nvSpPr>
        <p:spPr>
          <a:xfrm>
            <a:off x="969840" y="2301840"/>
            <a:ext cx="18527400" cy="50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IN" sz="40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218;p33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Future Enhancements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563840" y="2160720"/>
            <a:ext cx="16519320" cy="77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1. Advanced Intelligence and Predictive Analytics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Weather Forecast Integration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Machine Learning for Predictive Irrigation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2. Integrated Farm Management Features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Smart Fertigation System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Expanded Environmental Sensing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3. Sustainability and Robustness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uFillTx/>
                <a:latin typeface="Times New Roman"/>
                <a:ea typeface="Noto Sans CJK SC"/>
              </a:rPr>
              <a:t>Solar Power Integration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224;p34"/>
          <p:cNvSpPr/>
          <p:nvPr/>
        </p:nvSpPr>
        <p:spPr>
          <a:xfrm>
            <a:off x="2982960" y="712800"/>
            <a:ext cx="56880" cy="56880"/>
          </a:xfrm>
          <a:custGeom>
            <a:avLst/>
            <a:gdLst>
              <a:gd name="textAreaLeft" fmla="*/ 0 w 56880"/>
              <a:gd name="textAreaRight" fmla="*/ 57240 w 56880"/>
              <a:gd name="textAreaTop" fmla="*/ 0 h 56880"/>
              <a:gd name="textAreaBottom" fmla="*/ 57240 h 56880"/>
            </a:gdLst>
            <a:ahLst/>
            <a:rect l="textAreaLeft" t="textAreaTop" r="textAreaRight" b="textAreaBottom"/>
            <a:pathLst>
              <a:path w="56514" h="56515">
                <a:moveTo>
                  <a:pt x="28145" y="0"/>
                </a:moveTo>
                <a:lnTo>
                  <a:pt x="17201" y="2207"/>
                </a:lnTo>
                <a:lnTo>
                  <a:pt x="8253" y="8227"/>
                </a:lnTo>
                <a:lnTo>
                  <a:pt x="2215" y="17157"/>
                </a:lnTo>
                <a:lnTo>
                  <a:pt x="0" y="28093"/>
                </a:lnTo>
                <a:lnTo>
                  <a:pt x="2215" y="39037"/>
                </a:lnTo>
                <a:lnTo>
                  <a:pt x="8253" y="47985"/>
                </a:lnTo>
                <a:lnTo>
                  <a:pt x="17201" y="54023"/>
                </a:lnTo>
                <a:lnTo>
                  <a:pt x="28145" y="56239"/>
                </a:lnTo>
                <a:lnTo>
                  <a:pt x="39070" y="54023"/>
                </a:lnTo>
                <a:lnTo>
                  <a:pt x="41803" y="52176"/>
                </a:lnTo>
                <a:lnTo>
                  <a:pt x="28145" y="52176"/>
                </a:lnTo>
                <a:lnTo>
                  <a:pt x="18763" y="50280"/>
                </a:lnTo>
                <a:lnTo>
                  <a:pt x="11109" y="45113"/>
                </a:lnTo>
                <a:lnTo>
                  <a:pt x="5952" y="37457"/>
                </a:lnTo>
                <a:lnTo>
                  <a:pt x="4062" y="28093"/>
                </a:lnTo>
                <a:lnTo>
                  <a:pt x="5952" y="18722"/>
                </a:lnTo>
                <a:lnTo>
                  <a:pt x="11109" y="11052"/>
                </a:lnTo>
                <a:lnTo>
                  <a:pt x="18763" y="5870"/>
                </a:lnTo>
                <a:lnTo>
                  <a:pt x="28145" y="3968"/>
                </a:lnTo>
                <a:lnTo>
                  <a:pt x="41684" y="3968"/>
                </a:lnTo>
                <a:lnTo>
                  <a:pt x="39070" y="2207"/>
                </a:lnTo>
                <a:lnTo>
                  <a:pt x="28145" y="0"/>
                </a:lnTo>
                <a:close/>
              </a:path>
              <a:path w="56514" h="56515">
                <a:moveTo>
                  <a:pt x="41684" y="3968"/>
                </a:moveTo>
                <a:lnTo>
                  <a:pt x="28145" y="3968"/>
                </a:lnTo>
                <a:lnTo>
                  <a:pt x="37527" y="5870"/>
                </a:lnTo>
                <a:lnTo>
                  <a:pt x="45181" y="11052"/>
                </a:lnTo>
                <a:lnTo>
                  <a:pt x="50338" y="18722"/>
                </a:lnTo>
                <a:lnTo>
                  <a:pt x="52228" y="28093"/>
                </a:lnTo>
                <a:lnTo>
                  <a:pt x="50338" y="37457"/>
                </a:lnTo>
                <a:lnTo>
                  <a:pt x="45181" y="45113"/>
                </a:lnTo>
                <a:lnTo>
                  <a:pt x="37527" y="50280"/>
                </a:lnTo>
                <a:lnTo>
                  <a:pt x="28145" y="52176"/>
                </a:lnTo>
                <a:lnTo>
                  <a:pt x="41803" y="52176"/>
                </a:lnTo>
                <a:lnTo>
                  <a:pt x="48005" y="47985"/>
                </a:lnTo>
                <a:lnTo>
                  <a:pt x="54036" y="39037"/>
                </a:lnTo>
                <a:lnTo>
                  <a:pt x="56249" y="28093"/>
                </a:lnTo>
                <a:lnTo>
                  <a:pt x="54036" y="17157"/>
                </a:lnTo>
                <a:lnTo>
                  <a:pt x="48005" y="8227"/>
                </a:lnTo>
                <a:lnTo>
                  <a:pt x="41684" y="3968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83" name="Google Shape;225;p34"/>
          <p:cNvSpPr/>
          <p:nvPr/>
        </p:nvSpPr>
        <p:spPr>
          <a:xfrm>
            <a:off x="2998800" y="725400"/>
            <a:ext cx="25200" cy="31320"/>
          </a:xfrm>
          <a:custGeom>
            <a:avLst/>
            <a:gdLst>
              <a:gd name="textAreaLeft" fmla="*/ 0 w 25200"/>
              <a:gd name="textAreaRight" fmla="*/ 25560 w 25200"/>
              <a:gd name="textAreaTop" fmla="*/ 0 h 31320"/>
              <a:gd name="textAreaBottom" fmla="*/ 31680 h 31320"/>
            </a:gdLst>
            <a:ahLst/>
            <a:rect l="textAreaLeft" t="textAreaTop" r="textAreaRight" b="textAreaBottom"/>
            <a:pathLst>
              <a:path w="25400" h="31750">
                <a:moveTo>
                  <a:pt x="11999" y="0"/>
                </a:moveTo>
                <a:lnTo>
                  <a:pt x="0" y="0"/>
                </a:lnTo>
                <a:lnTo>
                  <a:pt x="0" y="31423"/>
                </a:lnTo>
                <a:lnTo>
                  <a:pt x="5675" y="31423"/>
                </a:lnTo>
                <a:lnTo>
                  <a:pt x="5675" y="18292"/>
                </a:lnTo>
                <a:lnTo>
                  <a:pt x="16472" y="18292"/>
                </a:lnTo>
                <a:lnTo>
                  <a:pt x="15633" y="17570"/>
                </a:lnTo>
                <a:lnTo>
                  <a:pt x="21266" y="14669"/>
                </a:lnTo>
                <a:lnTo>
                  <a:pt x="21701" y="13277"/>
                </a:lnTo>
                <a:lnTo>
                  <a:pt x="5675" y="13277"/>
                </a:lnTo>
                <a:lnTo>
                  <a:pt x="5675" y="5329"/>
                </a:lnTo>
                <a:lnTo>
                  <a:pt x="22239" y="5329"/>
                </a:lnTo>
                <a:lnTo>
                  <a:pt x="21884" y="3863"/>
                </a:lnTo>
                <a:lnTo>
                  <a:pt x="18564" y="848"/>
                </a:lnTo>
                <a:lnTo>
                  <a:pt x="11999" y="0"/>
                </a:lnTo>
                <a:close/>
              </a:path>
              <a:path w="25400" h="31750">
                <a:moveTo>
                  <a:pt x="16472" y="18292"/>
                </a:moveTo>
                <a:lnTo>
                  <a:pt x="6837" y="18292"/>
                </a:lnTo>
                <a:lnTo>
                  <a:pt x="9727" y="18680"/>
                </a:lnTo>
                <a:lnTo>
                  <a:pt x="11465" y="19999"/>
                </a:lnTo>
                <a:lnTo>
                  <a:pt x="14470" y="24596"/>
                </a:lnTo>
                <a:lnTo>
                  <a:pt x="18564" y="31423"/>
                </a:lnTo>
                <a:lnTo>
                  <a:pt x="25402" y="31423"/>
                </a:lnTo>
                <a:lnTo>
                  <a:pt x="21967" y="25318"/>
                </a:lnTo>
                <a:lnTo>
                  <a:pt x="18721" y="20229"/>
                </a:lnTo>
                <a:lnTo>
                  <a:pt x="16472" y="18292"/>
                </a:lnTo>
                <a:close/>
              </a:path>
              <a:path w="25400" h="31750">
                <a:moveTo>
                  <a:pt x="22239" y="5329"/>
                </a:moveTo>
                <a:lnTo>
                  <a:pt x="10156" y="5329"/>
                </a:lnTo>
                <a:lnTo>
                  <a:pt x="14324" y="5444"/>
                </a:lnTo>
                <a:lnTo>
                  <a:pt x="16449" y="6638"/>
                </a:lnTo>
                <a:lnTo>
                  <a:pt x="17224" y="9224"/>
                </a:lnTo>
                <a:lnTo>
                  <a:pt x="16638" y="11580"/>
                </a:lnTo>
                <a:lnTo>
                  <a:pt x="15057" y="12889"/>
                </a:lnTo>
                <a:lnTo>
                  <a:pt x="9926" y="13277"/>
                </a:lnTo>
                <a:lnTo>
                  <a:pt x="21701" y="13277"/>
                </a:lnTo>
                <a:lnTo>
                  <a:pt x="23088" y="8837"/>
                </a:lnTo>
                <a:lnTo>
                  <a:pt x="22239" y="5329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Arial"/>
              <a:ea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sldNum" idx="17"/>
          </p:nvPr>
        </p:nvSpPr>
        <p:spPr>
          <a:xfrm>
            <a:off x="18627840" y="10253160"/>
            <a:ext cx="1204920" cy="8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161C71-6AA3-4B34-BE63-A2840B99D853}" type="slidenum">
              <a:rPr b="0" lang="en-IN" sz="2200" strike="noStrike" u="none">
                <a:solidFill>
                  <a:schemeClr val="dk2"/>
                </a:solidFill>
                <a:uFillTx/>
                <a:latin typeface="Arial"/>
                <a:ea typeface="Arial"/>
              </a:rPr>
              <a:t>&lt;number&gt;</a:t>
            </a:fld>
            <a:endParaRPr b="0" lang="en-US" sz="2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5" name="Google Shape;228;p34"/>
          <p:cNvSpPr/>
          <p:nvPr/>
        </p:nvSpPr>
        <p:spPr>
          <a:xfrm>
            <a:off x="5057640" y="290520"/>
            <a:ext cx="9070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4400" strike="noStrike" u="none">
                <a:solidFill>
                  <a:srgbClr val="000000"/>
                </a:solidFill>
                <a:uFillTx/>
                <a:latin typeface="Times New Roman"/>
                <a:ea typeface="Times New Roman"/>
              </a:rPr>
              <a:t>References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208520" y="2374200"/>
            <a:ext cx="17344080" cy="7733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[1] SharathKumar KR, Mohan K, and Nirisha, “Arecanut Crop Disease Prediction using IoT and Machine Learning”, Journal of Science; Technology , vol. 5, no. 3, pp. 160–165, May 2020.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[2] Jyothi R, Rachana S, Ranjitha R, Krishna Prasad R, “Smart Irrigation System Based on Iot”, IJAST, vol. 29, no. 3, pp. 5730 - 5737, Mar. 2020.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[3] A. J. Rao, C. Bekal, Y. R. Manoj, R. Rakshitha, N. Poornima, “Automatic Detection of Crop Diseases and Smart Irrigation Using IoT and Image Processing,” in Advances in Communication and Computational Technology, Springer, pp. 343–353, 2021.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[4] S. Ramya, A. M. Swetha, M. Doraipandian, “IoT Framework for Smart Irrigation Using Machine Learning Technique,” Journal of Computer Science, vol. 16, no. 3, pp. 355–363, Mar. 2020.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[5] Raja Muthuramalingam, Reshnuvi Rathnam Velu, Harshini Baskar, Merun Hrithik Vellan Saminathan, “An IoT-Based Smart Irrigation System,” Engineering Proceedings, vol. 66, no. 1, pp. 13, July 2024.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[6] I. Ravi, G. Prabhu, P. S. Shelake, R. Selvarajan, and V. B. Patel, “IoT enabled soil moisture sensor based irrigation in banana”, Ind. Horticulture, vol. 69, no. 6, pp. 17–21, Jan. 2025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[7] Hema Losini Jayashanker, Nurmiza Othman, “IoT Based Irrigation and Fertigation System for Smart Smallholder Farming Application,” Emerging Advances in Integrated Technology, vol. 5, no. 1, pp. 16–25, July 2024.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[8] Eddala Chandu, M. K. Shukla, “IoT-Based Smart Irrigation System for Mango Orchard,” in Artificial Intelligence and Machine Learning in Satellite Data Processing and Services, Springer, pp. 61–69, Jan. 2023.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[9] D. Thakur, Y. Kumar, S. Vijendra, “Smart Irrigation and Intrusions Detection in Agricultural Fields Using IoT,” Procedia Computer Science, vol. 167, pp. 154–162, 2020.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Times New Roman"/>
                <a:ea typeface="Arial"/>
              </a:rPr>
              <a:t>[10] Manish Vasant Gurao and U. B. Vaidya, “IOT based Smart Irrigation System,” International Journal of Engineering Research &amp; Technology (IJERT), vol. 11, no. 11, Nov. 2022.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Application>LibreOffice/24.8.7.2$Linux_X86_64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2025-07-25T16:27:10Z</dcterms:modified>
  <cp:revision>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Custom</vt:lpwstr>
  </property>
  <property fmtid="{D5CDD505-2E9C-101B-9397-08002B2CF9AE}" pid="4" name="Slides">
    <vt:r8>11</vt:r8>
  </property>
</Properties>
</file>