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3.xml.rels" ContentType="application/vnd.openxmlformats-package.relationships+xml"/>
  <Override PartName="/ppt/slideMasters/slideMaster14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presProps.xml" ContentType="application/vnd.openxmlformats-officedocument.presentationml.presProps+xml"/>
  <Override PartName="/ppt/theme/theme10.xml" ContentType="application/vnd.openxmlformats-officedocument.theme+xml"/>
  <Override PartName="/ppt/theme/theme9.xml" ContentType="application/vnd.openxmlformats-officedocument.theme+xml"/>
  <Override PartName="/ppt/theme/theme8.xml" ContentType="application/vnd.openxmlformats-officedocument.theme+xml"/>
  <Override PartName="/ppt/theme/theme7.xml" ContentType="application/vnd.openxmlformats-officedocument.theme+xml"/>
  <Override PartName="/ppt/theme/theme17.xml" ContentType="application/vnd.openxmlformats-officedocument.theme+xml"/>
  <Override PartName="/ppt/theme/theme16.xml" ContentType="application/vnd.openxmlformats-officedocument.theme+xml"/>
  <Override PartName="/ppt/theme/theme6.xml" ContentType="application/vnd.openxmlformats-officedocument.theme+xml"/>
  <Override PartName="/ppt/theme/theme15.xml" ContentType="application/vnd.openxmlformats-officedocument.theme+xml"/>
  <Override PartName="/ppt/theme/theme5.xml" ContentType="application/vnd.openxmlformats-officedocument.theme+xml"/>
  <Override PartName="/ppt/theme/theme14.xml" ContentType="application/vnd.openxmlformats-officedocument.theme+xml"/>
  <Override PartName="/ppt/theme/theme4.xml" ContentType="application/vnd.openxmlformats-officedocument.theme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13.xml" ContentType="application/vnd.openxmlformats-officedocument.theme+xml"/>
  <Override PartName="/ppt/_rels/presentation.xml.rels" ContentType="application/vnd.openxmlformats-package.relationships+xml"/>
  <Override PartName="/ppt/media/image13.png" ContentType="image/png"/>
  <Override PartName="/ppt/media/image4.png" ContentType="image/png"/>
  <Override PartName="/ppt/media/image9.png" ContentType="image/png"/>
  <Override PartName="/ppt/media/image18.png" ContentType="image/png"/>
  <Override PartName="/ppt/media/image14.png" ContentType="image/png"/>
  <Override PartName="/ppt/media/image5.png" ContentType="image/png"/>
  <Override PartName="/ppt/media/image15.png" ContentType="image/png"/>
  <Override PartName="/ppt/media/image6.png" ContentType="image/png"/>
  <Override PartName="/ppt/media/image10.png" ContentType="image/png"/>
  <Override PartName="/ppt/media/image1.png" ContentType="image/png"/>
  <Override PartName="/ppt/media/image16.png" ContentType="image/png"/>
  <Override PartName="/ppt/media/image7.png" ContentType="image/png"/>
  <Override PartName="/ppt/media/image11.png" ContentType="image/png"/>
  <Override PartName="/ppt/media/image2.png" ContentType="image/png"/>
  <Override PartName="/ppt/media/image17.png" ContentType="image/png"/>
  <Override PartName="/ppt/media/image8.png" ContentType="image/png"/>
  <Override PartName="/ppt/media/image12.png" ContentType="image/png"/>
  <Override PartName="/ppt/media/image3.png" ContentType="image/pn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23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notesSlides/notesSlide4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18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4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2" r:id="rId13"/>
    <p:sldMasterId id="2147483674" r:id="rId14"/>
    <p:sldMasterId id="2147483676" r:id="rId15"/>
    <p:sldMasterId id="2147483678" r:id="rId16"/>
    <p:sldMasterId id="2147483680" r:id="rId17"/>
  </p:sldMasterIdLst>
  <p:notesMasterIdLst>
    <p:notesMasterId r:id="rId18"/>
  </p:notesMasterIdLst>
  <p:sldIdLst>
    <p:sldId id="256" r:id="rId19"/>
    <p:sldId id="257" r:id="rId20"/>
    <p:sldId id="258" r:id="rId21"/>
    <p:sldId id="259" r:id="rId22"/>
    <p:sldId id="260" r:id="rId23"/>
    <p:sldId id="261" r:id="rId24"/>
    <p:sldId id="262" r:id="rId25"/>
    <p:sldId id="263" r:id="rId26"/>
    <p:sldId id="264" r:id="rId27"/>
    <p:sldId id="265" r:id="rId28"/>
    <p:sldId id="266" r:id="rId29"/>
    <p:sldId id="267" r:id="rId30"/>
    <p:sldId id="268" r:id="rId31"/>
    <p:sldId id="269" r:id="rId32"/>
    <p:sldId id="270" r:id="rId33"/>
    <p:sldId id="271" r:id="rId34"/>
    <p:sldId id="272" r:id="rId35"/>
    <p:sldId id="273" r:id="rId36"/>
    <p:sldId id="274" r:id="rId37"/>
    <p:sldId id="275" r:id="rId38"/>
    <p:sldId id="276" r:id="rId39"/>
    <p:sldId id="277" r:id="rId40"/>
    <p:sldId id="278" r:id="rId41"/>
  </p:sldIdLst>
  <p:sldSz cx="9144000" cy="51435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notesMaster" Target="notesMasters/notesMaster1.xml"/><Relationship Id="rId19" Type="http://schemas.openxmlformats.org/officeDocument/2006/relationships/slide" Target="slides/slide1.xml"/><Relationship Id="rId20" Type="http://schemas.openxmlformats.org/officeDocument/2006/relationships/slide" Target="slides/slide2.xml"/><Relationship Id="rId21" Type="http://schemas.openxmlformats.org/officeDocument/2006/relationships/slide" Target="slides/slide3.xml"/><Relationship Id="rId22" Type="http://schemas.openxmlformats.org/officeDocument/2006/relationships/slide" Target="slides/slide4.xml"/><Relationship Id="rId23" Type="http://schemas.openxmlformats.org/officeDocument/2006/relationships/slide" Target="slides/slide5.xml"/><Relationship Id="rId24" Type="http://schemas.openxmlformats.org/officeDocument/2006/relationships/slide" Target="slides/slide6.xml"/><Relationship Id="rId25" Type="http://schemas.openxmlformats.org/officeDocument/2006/relationships/slide" Target="slides/slide7.xml"/><Relationship Id="rId26" Type="http://schemas.openxmlformats.org/officeDocument/2006/relationships/slide" Target="slides/slide8.xml"/><Relationship Id="rId27" Type="http://schemas.openxmlformats.org/officeDocument/2006/relationships/slide" Target="slides/slide9.xml"/><Relationship Id="rId28" Type="http://schemas.openxmlformats.org/officeDocument/2006/relationships/slide" Target="slides/slide10.xml"/><Relationship Id="rId29" Type="http://schemas.openxmlformats.org/officeDocument/2006/relationships/slide" Target="slides/slide11.xml"/><Relationship Id="rId30" Type="http://schemas.openxmlformats.org/officeDocument/2006/relationships/slide" Target="slides/slide12.xml"/><Relationship Id="rId31" Type="http://schemas.openxmlformats.org/officeDocument/2006/relationships/slide" Target="slides/slide13.xml"/><Relationship Id="rId32" Type="http://schemas.openxmlformats.org/officeDocument/2006/relationships/slide" Target="slides/slide14.xml"/><Relationship Id="rId33" Type="http://schemas.openxmlformats.org/officeDocument/2006/relationships/slide" Target="slides/slide15.xml"/><Relationship Id="rId34" Type="http://schemas.openxmlformats.org/officeDocument/2006/relationships/slide" Target="slides/slide16.xml"/><Relationship Id="rId35" Type="http://schemas.openxmlformats.org/officeDocument/2006/relationships/slide" Target="slides/slide17.xml"/><Relationship Id="rId36" Type="http://schemas.openxmlformats.org/officeDocument/2006/relationships/slide" Target="slides/slide18.xml"/><Relationship Id="rId37" Type="http://schemas.openxmlformats.org/officeDocument/2006/relationships/slide" Target="slides/slide19.xml"/><Relationship Id="rId38" Type="http://schemas.openxmlformats.org/officeDocument/2006/relationships/slide" Target="slides/slide20.xml"/><Relationship Id="rId39" Type="http://schemas.openxmlformats.org/officeDocument/2006/relationships/slide" Target="slides/slide21.xml"/><Relationship Id="rId40" Type="http://schemas.openxmlformats.org/officeDocument/2006/relationships/slide" Target="slides/slide22.xml"/><Relationship Id="rId41" Type="http://schemas.openxmlformats.org/officeDocument/2006/relationships/slide" Target="slides/slide23.xml"/><Relationship Id="rId4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7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trike="noStrike" u="none">
                <a:solidFill>
                  <a:srgbClr val="000000"/>
                </a:solidFill>
                <a:uFillTx/>
                <a:latin typeface="Arial"/>
              </a:rPr>
              <a:t>Click to move the slide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dt" idx="1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 type="ftr" idx="1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83" name="PlaceHolder 6"/>
          <p:cNvSpPr>
            <a:spLocks noGrp="1"/>
          </p:cNvSpPr>
          <p:nvPr>
            <p:ph type="sldNum" idx="1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9DECABF4-8176-4F40-B1D6-736B31A070B8}" type="slidenum"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sldImg"/>
          </p:nvPr>
        </p:nvSpPr>
        <p:spPr>
          <a:xfrm>
            <a:off x="2361960" y="801360"/>
            <a:ext cx="2833200" cy="4005720"/>
          </a:xfrm>
          <a:prstGeom prst="rect">
            <a:avLst/>
          </a:prstGeom>
          <a:ln w="0">
            <a:noFill/>
          </a:ln>
        </p:spPr>
      </p:sp>
      <p:sp>
        <p:nvSpPr>
          <p:cNvPr id="175" name="PlaceHolder 2"/>
          <p:cNvSpPr>
            <a:spLocks noGrp="1"/>
          </p:cNvSpPr>
          <p:nvPr>
            <p:ph type="body"/>
          </p:nvPr>
        </p:nvSpPr>
        <p:spPr>
          <a:xfrm>
            <a:off x="755640" y="5078880"/>
            <a:ext cx="6046200" cy="4807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 type="sldNum" idx="22"/>
          </p:nvPr>
        </p:nvSpPr>
        <p:spPr>
          <a:xfrm>
            <a:off x="4281840" y="10155960"/>
            <a:ext cx="3273840" cy="52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1200" strike="noStrike" u="none">
                <a:solidFill>
                  <a:schemeClr val="dk1"/>
                </a:solidFill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2D126FC-FEBA-4B26-83A4-591FEA26F06C}" type="slidenum">
              <a:rPr b="0" lang="en-IN" sz="12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sldImg"/>
          </p:nvPr>
        </p:nvSpPr>
        <p:spPr>
          <a:xfrm>
            <a:off x="6281640" y="847800"/>
            <a:ext cx="7535880" cy="4237200"/>
          </a:xfrm>
          <a:prstGeom prst="rect">
            <a:avLst/>
          </a:prstGeom>
          <a:ln w="0">
            <a:noFill/>
          </a:ln>
        </p:spPr>
      </p:sp>
      <p:sp>
        <p:nvSpPr>
          <p:cNvPr id="178" name="PlaceHolder 2"/>
          <p:cNvSpPr>
            <a:spLocks noGrp="1"/>
          </p:cNvSpPr>
          <p:nvPr>
            <p:ph type="body"/>
          </p:nvPr>
        </p:nvSpPr>
        <p:spPr>
          <a:xfrm>
            <a:off x="2009880" y="5372280"/>
            <a:ext cx="16079760" cy="5085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 type="sldNum" idx="23"/>
          </p:nvPr>
        </p:nvSpPr>
        <p:spPr>
          <a:xfrm>
            <a:off x="11387160" y="10742760"/>
            <a:ext cx="8707680" cy="560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1200" strike="noStrike" u="none">
                <a:solidFill>
                  <a:schemeClr val="dk1"/>
                </a:solidFill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06DEEB6-5C6C-46E3-BD0D-8E51DF1B3813}" type="slidenum">
              <a:rPr b="0" lang="en-IN" sz="12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sldImg"/>
          </p:nvPr>
        </p:nvSpPr>
        <p:spPr>
          <a:xfrm>
            <a:off x="2361960" y="801360"/>
            <a:ext cx="2833200" cy="4005720"/>
          </a:xfrm>
          <a:prstGeom prst="rect">
            <a:avLst/>
          </a:prstGeom>
          <a:ln w="0">
            <a:noFill/>
          </a:ln>
        </p:spPr>
      </p:sp>
      <p:sp>
        <p:nvSpPr>
          <p:cNvPr id="181" name="PlaceHolder 2"/>
          <p:cNvSpPr>
            <a:spLocks noGrp="1"/>
          </p:cNvSpPr>
          <p:nvPr>
            <p:ph type="body"/>
          </p:nvPr>
        </p:nvSpPr>
        <p:spPr>
          <a:xfrm>
            <a:off x="755640" y="5078880"/>
            <a:ext cx="6046200" cy="4807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2" name="PlaceHolder 3"/>
          <p:cNvSpPr>
            <a:spLocks noGrp="1"/>
          </p:cNvSpPr>
          <p:nvPr>
            <p:ph type="sldNum" idx="24"/>
          </p:nvPr>
        </p:nvSpPr>
        <p:spPr>
          <a:xfrm>
            <a:off x="4281840" y="10155960"/>
            <a:ext cx="3273840" cy="52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1200" strike="noStrike" u="none">
                <a:solidFill>
                  <a:schemeClr val="dk1"/>
                </a:solidFill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8ED00C1-7FD2-4D47-86AA-809902E13761}" type="slidenum">
              <a:rPr b="0" lang="en-IN" sz="12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sldImg"/>
          </p:nvPr>
        </p:nvSpPr>
        <p:spPr>
          <a:xfrm>
            <a:off x="2361960" y="801360"/>
            <a:ext cx="2833200" cy="4005720"/>
          </a:xfrm>
          <a:prstGeom prst="rect">
            <a:avLst/>
          </a:prstGeom>
          <a:ln w="0">
            <a:noFill/>
          </a:ln>
        </p:spPr>
      </p:sp>
      <p:sp>
        <p:nvSpPr>
          <p:cNvPr id="184" name="PlaceHolder 2"/>
          <p:cNvSpPr>
            <a:spLocks noGrp="1"/>
          </p:cNvSpPr>
          <p:nvPr>
            <p:ph type="body"/>
          </p:nvPr>
        </p:nvSpPr>
        <p:spPr>
          <a:xfrm>
            <a:off x="755640" y="5078880"/>
            <a:ext cx="6046200" cy="4807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 type="sldNum" idx="25"/>
          </p:nvPr>
        </p:nvSpPr>
        <p:spPr>
          <a:xfrm>
            <a:off x="4281840" y="10155960"/>
            <a:ext cx="3273840" cy="52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1200" strike="noStrike" u="none">
                <a:solidFill>
                  <a:schemeClr val="dk1"/>
                </a:solidFill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75BB1D4-A518-4364-9E77-38E67FEFC17F}" type="slidenum">
              <a:rPr b="0" lang="en-IN" sz="12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sldImg"/>
          </p:nvPr>
        </p:nvSpPr>
        <p:spPr>
          <a:xfrm>
            <a:off x="2361960" y="801360"/>
            <a:ext cx="2833200" cy="4005720"/>
          </a:xfrm>
          <a:prstGeom prst="rect">
            <a:avLst/>
          </a:prstGeom>
          <a:ln w="0">
            <a:noFill/>
          </a:ln>
        </p:spPr>
      </p:sp>
      <p:sp>
        <p:nvSpPr>
          <p:cNvPr id="187" name="PlaceHolder 2"/>
          <p:cNvSpPr>
            <a:spLocks noGrp="1"/>
          </p:cNvSpPr>
          <p:nvPr>
            <p:ph type="body"/>
          </p:nvPr>
        </p:nvSpPr>
        <p:spPr>
          <a:xfrm>
            <a:off x="755640" y="5078880"/>
            <a:ext cx="6046200" cy="4807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8" name="PlaceHolder 3"/>
          <p:cNvSpPr>
            <a:spLocks noGrp="1"/>
          </p:cNvSpPr>
          <p:nvPr>
            <p:ph type="sldNum" idx="26"/>
          </p:nvPr>
        </p:nvSpPr>
        <p:spPr>
          <a:xfrm>
            <a:off x="4281840" y="10155960"/>
            <a:ext cx="3273840" cy="52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1200" strike="noStrike" u="none">
                <a:solidFill>
                  <a:schemeClr val="dk1"/>
                </a:solidFill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0E84A83-BB37-40CF-B50F-4F48A15376B3}" type="slidenum">
              <a:rPr b="0" lang="en-IN" sz="12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sldImg"/>
          </p:nvPr>
        </p:nvSpPr>
        <p:spPr>
          <a:xfrm>
            <a:off x="2361960" y="801360"/>
            <a:ext cx="2833200" cy="4005720"/>
          </a:xfrm>
          <a:prstGeom prst="rect">
            <a:avLst/>
          </a:prstGeom>
          <a:ln w="0">
            <a:noFill/>
          </a:ln>
        </p:spPr>
      </p:sp>
      <p:sp>
        <p:nvSpPr>
          <p:cNvPr id="190" name="PlaceHolder 2"/>
          <p:cNvSpPr>
            <a:spLocks noGrp="1"/>
          </p:cNvSpPr>
          <p:nvPr>
            <p:ph type="body"/>
          </p:nvPr>
        </p:nvSpPr>
        <p:spPr>
          <a:xfrm>
            <a:off x="755640" y="5078880"/>
            <a:ext cx="6046200" cy="4807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1" name="PlaceHolder 3"/>
          <p:cNvSpPr>
            <a:spLocks noGrp="1"/>
          </p:cNvSpPr>
          <p:nvPr>
            <p:ph type="sldNum" idx="27"/>
          </p:nvPr>
        </p:nvSpPr>
        <p:spPr>
          <a:xfrm>
            <a:off x="4281840" y="10155960"/>
            <a:ext cx="3273840" cy="52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1200" strike="noStrike" u="none">
                <a:solidFill>
                  <a:schemeClr val="dk1"/>
                </a:solidFill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8FB363D-57E1-4A51-AE56-2703D29C735F}" type="slidenum">
              <a:rPr b="0" lang="en-IN" sz="12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sldImg"/>
          </p:nvPr>
        </p:nvSpPr>
        <p:spPr>
          <a:xfrm>
            <a:off x="2361960" y="801360"/>
            <a:ext cx="2833200" cy="4005720"/>
          </a:xfrm>
          <a:prstGeom prst="rect">
            <a:avLst/>
          </a:prstGeom>
          <a:ln w="0">
            <a:noFill/>
          </a:ln>
        </p:spPr>
      </p:sp>
      <p:sp>
        <p:nvSpPr>
          <p:cNvPr id="193" name="PlaceHolder 2"/>
          <p:cNvSpPr>
            <a:spLocks noGrp="1"/>
          </p:cNvSpPr>
          <p:nvPr>
            <p:ph type="body"/>
          </p:nvPr>
        </p:nvSpPr>
        <p:spPr>
          <a:xfrm>
            <a:off x="755640" y="5078880"/>
            <a:ext cx="6046200" cy="4807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4" name="PlaceHolder 3"/>
          <p:cNvSpPr>
            <a:spLocks noGrp="1"/>
          </p:cNvSpPr>
          <p:nvPr>
            <p:ph type="sldNum" idx="28"/>
          </p:nvPr>
        </p:nvSpPr>
        <p:spPr>
          <a:xfrm>
            <a:off x="4281840" y="10155960"/>
            <a:ext cx="3273840" cy="52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1200" strike="noStrike" u="none">
                <a:solidFill>
                  <a:schemeClr val="dk1"/>
                </a:solidFill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CF9CA18-0D97-42AF-B6BC-C0820912CFB6}" type="slidenum">
              <a:rPr b="0" lang="en-IN" sz="12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sldImg"/>
          </p:nvPr>
        </p:nvSpPr>
        <p:spPr>
          <a:xfrm>
            <a:off x="2361960" y="801360"/>
            <a:ext cx="2835000" cy="4009320"/>
          </a:xfrm>
          <a:prstGeom prst="rect">
            <a:avLst/>
          </a:prstGeom>
          <a:ln w="0">
            <a:noFill/>
          </a:ln>
        </p:spPr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755640" y="5078520"/>
            <a:ext cx="6048000" cy="4811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sldNum" idx="29"/>
          </p:nvPr>
        </p:nvSpPr>
        <p:spPr>
          <a:xfrm>
            <a:off x="4281480" y="10155600"/>
            <a:ext cx="3275640" cy="53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1200" strike="noStrike" u="none">
                <a:solidFill>
                  <a:schemeClr val="dk1"/>
                </a:solidFill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7AE3FE0-BA39-4B95-A48F-6AC1AC8F1025}" type="slidenum">
              <a:rPr b="0" lang="en-IN" sz="12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sldImg"/>
          </p:nvPr>
        </p:nvSpPr>
        <p:spPr>
          <a:xfrm>
            <a:off x="2361960" y="801360"/>
            <a:ext cx="2835000" cy="4009320"/>
          </a:xfrm>
          <a:prstGeom prst="rect">
            <a:avLst/>
          </a:prstGeom>
          <a:ln w="0">
            <a:noFill/>
          </a:ln>
        </p:spPr>
      </p:sp>
      <p:sp>
        <p:nvSpPr>
          <p:cNvPr id="199" name="PlaceHolder 2"/>
          <p:cNvSpPr>
            <a:spLocks noGrp="1"/>
          </p:cNvSpPr>
          <p:nvPr>
            <p:ph type="body"/>
          </p:nvPr>
        </p:nvSpPr>
        <p:spPr>
          <a:xfrm>
            <a:off x="755640" y="5078520"/>
            <a:ext cx="6048000" cy="4811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 type="sldNum" idx="30"/>
          </p:nvPr>
        </p:nvSpPr>
        <p:spPr>
          <a:xfrm>
            <a:off x="4281480" y="10155600"/>
            <a:ext cx="3275640" cy="53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1200" strike="noStrike" u="none">
                <a:solidFill>
                  <a:schemeClr val="dk1"/>
                </a:solidFill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2CAAA25-DA5B-4F14-A339-3BDBD3A4F558}" type="slidenum">
              <a:rPr b="0" lang="en-IN" sz="12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sldImg"/>
          </p:nvPr>
        </p:nvSpPr>
        <p:spPr>
          <a:xfrm>
            <a:off x="2361960" y="801360"/>
            <a:ext cx="2835000" cy="4009320"/>
          </a:xfrm>
          <a:prstGeom prst="rect">
            <a:avLst/>
          </a:prstGeom>
          <a:ln w="0">
            <a:noFill/>
          </a:ln>
        </p:spPr>
      </p:sp>
      <p:sp>
        <p:nvSpPr>
          <p:cNvPr id="202" name="PlaceHolder 2"/>
          <p:cNvSpPr>
            <a:spLocks noGrp="1"/>
          </p:cNvSpPr>
          <p:nvPr>
            <p:ph type="body"/>
          </p:nvPr>
        </p:nvSpPr>
        <p:spPr>
          <a:xfrm>
            <a:off x="755640" y="5078520"/>
            <a:ext cx="6048000" cy="4811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 type="sldNum" idx="31"/>
          </p:nvPr>
        </p:nvSpPr>
        <p:spPr>
          <a:xfrm>
            <a:off x="4281480" y="10155600"/>
            <a:ext cx="3275640" cy="53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1200" strike="noStrike" u="none">
                <a:solidFill>
                  <a:schemeClr val="dk1"/>
                </a:solidFill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BF60F14-BA8F-4E7D-A03F-545E1D4A09F0}" type="slidenum">
              <a:rPr b="0" lang="en-IN" sz="12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15B2432C-8E8A-4614-B536-3BCC855B7A1E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9B46D84-B69A-4EE3-9A8E-78C826A534DA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259FB56-C8C0-4BAD-B8A9-5172101D527D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4D11B1EE-E49E-48EF-BA39-CD1659DE0BD1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A86433D-1AB7-4B4D-B9A6-90473DB807B4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7F6E2F2-CA1B-4CFD-B868-5B85AA99D371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36868029-DE1A-4CEC-A935-BF6B2A22014C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AF6DA439-1135-4071-AE5A-C7A0BB90ABDE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F530A48F-4697-4BE0-8BC1-38CF6B4539BF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D8DF255A-9907-4D1A-A673-1F6A5C3A61FA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296F2FA6-D251-464F-8494-44CA701AA314}" type="slidenum">
              <a:t>&lt;#&gt;</a:t>
            </a:fld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A1FF0323-25C7-4CAB-A583-A9EC438B1E61}" type="slidenum">
              <a:t>&lt;#&gt;</a:t>
            </a:fld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5104363A-BE12-4378-8110-7D56C70CCFEE}" type="slidenum">
              <a:t>&lt;#&gt;</a:t>
            </a:fld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251F25C7-2183-412D-A0D9-9FC63EEF163D}" type="slidenum">
              <a:t>&lt;#&gt;</a:t>
            </a:fld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3"/>
          </p:nvPr>
        </p:nvSpPr>
        <p:spPr/>
        <p:txBody>
          <a:bodyPr/>
          <a:p>
            <a:fld id="{F1B3F12A-6C5E-491B-AC71-2DD355550DD1}" type="slidenum">
              <a:t>&lt;#&gt;</a:t>
            </a:fld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C2CC5237-A656-4383-A8B1-BB0C4D992201}" type="slidenum">
              <a:t>&lt;#&gt;</a:t>
            </a:fld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F6D3E6C7-E14D-4E87-AE4D-D177FBF2E192}" type="slidenum">
              <a:t>&lt;#&gt;</a:t>
            </a:fld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6"/>
          </p:nvPr>
        </p:nvSpPr>
        <p:spPr/>
        <p:txBody>
          <a:bodyPr/>
          <a:p>
            <a:fld id="{7A6A503E-2578-4A76-B7BC-5BF9A1BE5A4B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4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5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16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17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1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Google Shape;9;p11" descr=""/>
          <p:cNvPicPr/>
          <p:nvPr/>
        </p:nvPicPr>
        <p:blipFill>
          <a:blip r:embed="rId3"/>
          <a:stretch/>
        </p:blipFill>
        <p:spPr>
          <a:xfrm>
            <a:off x="216000" y="216000"/>
            <a:ext cx="1504440" cy="64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I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00F49ED-7F3C-439B-99CC-6294E329D365}" type="slidenum">
              <a:rPr b="0" lang="en-I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9;p11" descr=""/>
          <p:cNvPicPr/>
          <p:nvPr/>
        </p:nvPicPr>
        <p:blipFill>
          <a:blip r:embed="rId3"/>
          <a:stretch/>
        </p:blipFill>
        <p:spPr>
          <a:xfrm>
            <a:off x="216000" y="216000"/>
            <a:ext cx="1504440" cy="64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I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6FCE6D8-61AE-4FED-8587-49D1665C6A3F}" type="slidenum">
              <a:rPr b="0" lang="en-I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9;p11" descr=""/>
          <p:cNvPicPr/>
          <p:nvPr/>
        </p:nvPicPr>
        <p:blipFill>
          <a:blip r:embed="rId3"/>
          <a:stretch/>
        </p:blipFill>
        <p:spPr>
          <a:xfrm>
            <a:off x="216000" y="216000"/>
            <a:ext cx="1504440" cy="64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I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940A91A-8E0E-4B85-A8CD-B835EEBC5A59}" type="slidenum">
              <a:rPr b="0" lang="en-I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4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9;p11" descr=""/>
          <p:cNvPicPr/>
          <p:nvPr/>
        </p:nvPicPr>
        <p:blipFill>
          <a:blip r:embed="rId3"/>
          <a:stretch/>
        </p:blipFill>
        <p:spPr>
          <a:xfrm>
            <a:off x="216000" y="216000"/>
            <a:ext cx="1504440" cy="64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I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6C44AD0-F6A6-4524-9D0D-1C4F6A495CE9}" type="slidenum">
              <a:rPr b="0" lang="en-I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4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9;p11" descr=""/>
          <p:cNvPicPr/>
          <p:nvPr/>
        </p:nvPicPr>
        <p:blipFill>
          <a:blip r:embed="rId3"/>
          <a:stretch/>
        </p:blipFill>
        <p:spPr>
          <a:xfrm>
            <a:off x="216000" y="216000"/>
            <a:ext cx="1504440" cy="64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I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116663B-95FF-4A89-9E09-82CF488819C4}" type="slidenum">
              <a:rPr b="0" lang="en-I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4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9;p11" descr=""/>
          <p:cNvPicPr/>
          <p:nvPr/>
        </p:nvPicPr>
        <p:blipFill>
          <a:blip r:embed="rId3"/>
          <a:stretch/>
        </p:blipFill>
        <p:spPr>
          <a:xfrm>
            <a:off x="216000" y="216000"/>
            <a:ext cx="1504440" cy="64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I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F2CEDBA-A73C-452F-B98F-0969E88BCB7D}" type="slidenum">
              <a:rPr b="0" lang="en-I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4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9;p11" descr=""/>
          <p:cNvPicPr/>
          <p:nvPr/>
        </p:nvPicPr>
        <p:blipFill>
          <a:blip r:embed="rId3"/>
          <a:stretch/>
        </p:blipFill>
        <p:spPr>
          <a:xfrm>
            <a:off x="216000" y="216000"/>
            <a:ext cx="1504440" cy="64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I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25EA086-3C21-47B9-9658-32D42709F29A}" type="slidenum">
              <a:rPr b="0" lang="en-I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4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9;p11" descr=""/>
          <p:cNvPicPr/>
          <p:nvPr/>
        </p:nvPicPr>
        <p:blipFill>
          <a:blip r:embed="rId3"/>
          <a:stretch/>
        </p:blipFill>
        <p:spPr>
          <a:xfrm>
            <a:off x="216000" y="216000"/>
            <a:ext cx="1504440" cy="64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I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319846B-16C8-4729-AC75-90E645C7D3DB}" type="slidenum">
              <a:rPr b="0" lang="en-I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4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9;p11" descr=""/>
          <p:cNvPicPr/>
          <p:nvPr/>
        </p:nvPicPr>
        <p:blipFill>
          <a:blip r:embed="rId3"/>
          <a:stretch/>
        </p:blipFill>
        <p:spPr>
          <a:xfrm>
            <a:off x="216000" y="216000"/>
            <a:ext cx="1504440" cy="64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I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D5F061B-13EB-4433-BA1B-69EF35085C6C}" type="slidenum">
              <a:rPr b="0" lang="en-I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4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9;p11" descr=""/>
          <p:cNvPicPr/>
          <p:nvPr/>
        </p:nvPicPr>
        <p:blipFill>
          <a:blip r:embed="rId3"/>
          <a:stretch/>
        </p:blipFill>
        <p:spPr>
          <a:xfrm>
            <a:off x="216000" y="216000"/>
            <a:ext cx="1504440" cy="64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I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A71BDD0-5484-44D5-9798-A2DF624162C9}" type="slidenum">
              <a:rPr b="0" lang="en-I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7" r:id="rId4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9;p11" descr=""/>
          <p:cNvPicPr/>
          <p:nvPr/>
        </p:nvPicPr>
        <p:blipFill>
          <a:blip r:embed="rId3"/>
          <a:stretch/>
        </p:blipFill>
        <p:spPr>
          <a:xfrm>
            <a:off x="216000" y="216000"/>
            <a:ext cx="1504440" cy="64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" name="PlaceHolder 1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I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9C90D32-EDD4-4CC4-9E45-2E461E137C3C}" type="slidenum">
              <a:rPr b="0" lang="en-I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9" r:id="rId4"/>
    <p:sldLayoutId id="2147483670" r:id="rId5"/>
    <p:sldLayoutId id="2147483671" r:id="rId6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9;p11" descr=""/>
          <p:cNvPicPr/>
          <p:nvPr/>
        </p:nvPicPr>
        <p:blipFill>
          <a:blip r:embed="rId3"/>
          <a:stretch/>
        </p:blipFill>
        <p:spPr>
          <a:xfrm>
            <a:off x="216000" y="216000"/>
            <a:ext cx="1504440" cy="64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sldNum" idx="12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I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9C5A8AA-5BC3-4FC7-A85A-5F14BD451D36}" type="slidenum">
              <a:rPr b="0" lang="en-I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3" r:id="rId4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9;p11" descr=""/>
          <p:cNvPicPr/>
          <p:nvPr/>
        </p:nvPicPr>
        <p:blipFill>
          <a:blip r:embed="rId3"/>
          <a:stretch/>
        </p:blipFill>
        <p:spPr>
          <a:xfrm>
            <a:off x="216000" y="216000"/>
            <a:ext cx="1504440" cy="64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" name="PlaceHolder 1"/>
          <p:cNvSpPr>
            <a:spLocks noGrp="1"/>
          </p:cNvSpPr>
          <p:nvPr>
            <p:ph type="sldNum" idx="13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I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12D1FAA-FE4E-476B-A39F-AE2F0659EBB7}" type="slidenum">
              <a:rPr b="0" lang="en-I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4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10;p16" descr=""/>
          <p:cNvPicPr/>
          <p:nvPr/>
        </p:nvPicPr>
        <p:blipFill>
          <a:blip r:embed="rId3"/>
          <a:stretch/>
        </p:blipFill>
        <p:spPr>
          <a:xfrm>
            <a:off x="215640" y="215640"/>
            <a:ext cx="1504800" cy="645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8" name="Google Shape;13;p16" descr=""/>
          <p:cNvPicPr/>
          <p:nvPr/>
        </p:nvPicPr>
        <p:blipFill>
          <a:blip r:embed="rId4"/>
          <a:stretch/>
        </p:blipFill>
        <p:spPr>
          <a:xfrm>
            <a:off x="3463200" y="4730040"/>
            <a:ext cx="2214720" cy="334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" name="Google Shape;16;p17"/>
          <p:cNvSpPr/>
          <p:nvPr/>
        </p:nvSpPr>
        <p:spPr>
          <a:xfrm>
            <a:off x="1356480" y="324000"/>
            <a:ext cx="23400" cy="23400"/>
          </a:xfrm>
          <a:custGeom>
            <a:avLst/>
            <a:gdLst>
              <a:gd name="textAreaLeft" fmla="*/ 0 w 23400"/>
              <a:gd name="textAreaRight" fmla="*/ 25920 w 23400"/>
              <a:gd name="textAreaTop" fmla="*/ 0 h 23400"/>
              <a:gd name="textAreaBottom" fmla="*/ 25920 h 23400"/>
            </a:gdLst>
            <a:ahLst/>
            <a:rect l="textAreaLeft" t="textAreaTop" r="textAreaRight" b="textAreaBottom"/>
            <a:pathLst>
              <a:path w="56514" h="56515">
                <a:moveTo>
                  <a:pt x="28145" y="0"/>
                </a:moveTo>
                <a:lnTo>
                  <a:pt x="17201" y="2207"/>
                </a:lnTo>
                <a:lnTo>
                  <a:pt x="8253" y="8227"/>
                </a:lnTo>
                <a:lnTo>
                  <a:pt x="2215" y="17157"/>
                </a:lnTo>
                <a:lnTo>
                  <a:pt x="0" y="28093"/>
                </a:lnTo>
                <a:lnTo>
                  <a:pt x="2215" y="39037"/>
                </a:lnTo>
                <a:lnTo>
                  <a:pt x="8253" y="47985"/>
                </a:lnTo>
                <a:lnTo>
                  <a:pt x="17201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3" y="50280"/>
                </a:lnTo>
                <a:lnTo>
                  <a:pt x="11109" y="45113"/>
                </a:lnTo>
                <a:lnTo>
                  <a:pt x="5952" y="37457"/>
                </a:lnTo>
                <a:lnTo>
                  <a:pt x="4062" y="28093"/>
                </a:lnTo>
                <a:lnTo>
                  <a:pt x="5952" y="18722"/>
                </a:lnTo>
                <a:lnTo>
                  <a:pt x="11109" y="11052"/>
                </a:lnTo>
                <a:lnTo>
                  <a:pt x="18763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7" y="5870"/>
                </a:lnTo>
                <a:lnTo>
                  <a:pt x="45181" y="11052"/>
                </a:lnTo>
                <a:lnTo>
                  <a:pt x="50338" y="18722"/>
                </a:lnTo>
                <a:lnTo>
                  <a:pt x="52228" y="28093"/>
                </a:lnTo>
                <a:lnTo>
                  <a:pt x="50338" y="37457"/>
                </a:lnTo>
                <a:lnTo>
                  <a:pt x="45181" y="45113"/>
                </a:lnTo>
                <a:lnTo>
                  <a:pt x="37527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uFillTx/>
              <a:latin typeface="Arial"/>
              <a:ea typeface="Arial"/>
            </a:endParaRPr>
          </a:p>
        </p:txBody>
      </p:sp>
      <p:sp>
        <p:nvSpPr>
          <p:cNvPr id="60" name="Google Shape;17;p17"/>
          <p:cNvSpPr/>
          <p:nvPr/>
        </p:nvSpPr>
        <p:spPr>
          <a:xfrm>
            <a:off x="1363680" y="329400"/>
            <a:ext cx="9000" cy="11880"/>
          </a:xfrm>
          <a:custGeom>
            <a:avLst/>
            <a:gdLst>
              <a:gd name="textAreaLeft" fmla="*/ 0 w 9000"/>
              <a:gd name="textAreaRight" fmla="*/ 11520 w 9000"/>
              <a:gd name="textAreaTop" fmla="*/ 0 h 11880"/>
              <a:gd name="textAreaBottom" fmla="*/ 14400 h 11880"/>
            </a:gdLst>
            <a:ahLst/>
            <a:rect l="textAreaLeft" t="textAreaTop" r="textAreaRight" b="textAreaBottom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39" y="5329"/>
                </a:lnTo>
                <a:lnTo>
                  <a:pt x="2188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37" y="18292"/>
                </a:lnTo>
                <a:lnTo>
                  <a:pt x="9727" y="18680"/>
                </a:lnTo>
                <a:lnTo>
                  <a:pt x="11465" y="19999"/>
                </a:lnTo>
                <a:lnTo>
                  <a:pt x="14470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39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4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26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39" y="5329"/>
                </a:lnTo>
                <a:close/>
              </a:path>
            </a:pathLst>
          </a:custGeom>
          <a:solidFill>
            <a:srgbClr val="231f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uFillTx/>
              <a:latin typeface="Arial"/>
              <a:ea typeface="Arial"/>
            </a:endParaRPr>
          </a:p>
        </p:txBody>
      </p:sp>
      <p:sp>
        <p:nvSpPr>
          <p:cNvPr id="61" name="PlaceHolder 1"/>
          <p:cNvSpPr>
            <a:spLocks noGrp="1"/>
          </p:cNvSpPr>
          <p:nvPr>
            <p:ph type="sldNum" idx="14"/>
          </p:nvPr>
        </p:nvSpPr>
        <p:spPr>
          <a:xfrm>
            <a:off x="8472240" y="4663080"/>
            <a:ext cx="545760" cy="39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22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C93EAA9-ACC0-480A-BCDD-961DBD7BDDF5}" type="slidenum">
              <a:rPr b="0" lang="en-IN" sz="22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2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7" r:id="rId5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21;p18" descr=""/>
          <p:cNvPicPr/>
          <p:nvPr/>
        </p:nvPicPr>
        <p:blipFill>
          <a:blip r:embed="rId3"/>
          <a:stretch/>
        </p:blipFill>
        <p:spPr>
          <a:xfrm>
            <a:off x="215640" y="215640"/>
            <a:ext cx="1504800" cy="645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5" name="Google Shape;25;p18" descr=""/>
          <p:cNvPicPr/>
          <p:nvPr/>
        </p:nvPicPr>
        <p:blipFill>
          <a:blip r:embed="rId4"/>
          <a:stretch/>
        </p:blipFill>
        <p:spPr>
          <a:xfrm>
            <a:off x="6983280" y="414720"/>
            <a:ext cx="1971000" cy="297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sldNum" idx="15"/>
          </p:nvPr>
        </p:nvSpPr>
        <p:spPr>
          <a:xfrm>
            <a:off x="8472240" y="4663080"/>
            <a:ext cx="545760" cy="39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22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9206D83-648E-4E65-A561-BE3A7F8F82E4}" type="slidenum">
              <a:rPr b="0" lang="en-IN" sz="22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2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9" r:id="rId5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21;p3" descr=""/>
          <p:cNvPicPr/>
          <p:nvPr/>
        </p:nvPicPr>
        <p:blipFill>
          <a:blip r:embed="rId3"/>
          <a:stretch/>
        </p:blipFill>
        <p:spPr>
          <a:xfrm>
            <a:off x="215640" y="215640"/>
            <a:ext cx="1506960" cy="647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2" name="Google Shape;25;p3" descr=""/>
          <p:cNvPicPr/>
          <p:nvPr/>
        </p:nvPicPr>
        <p:blipFill>
          <a:blip r:embed="rId4"/>
          <a:stretch/>
        </p:blipFill>
        <p:spPr>
          <a:xfrm>
            <a:off x="6983280" y="414720"/>
            <a:ext cx="1973160" cy="29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391320" y="93420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253080" y="185760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64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513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38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25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12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12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12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sldNum" idx="16"/>
          </p:nvPr>
        </p:nvSpPr>
        <p:spPr>
          <a:xfrm>
            <a:off x="847224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22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FD8BEF4-DEF4-442C-9210-87F4AEE1EA4A}" type="slidenum">
              <a:rPr b="0" lang="en-IN" sz="22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2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1" r:id="rId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6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7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7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7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7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7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7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7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7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17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8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8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8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35;p1"/>
          <p:cNvSpPr/>
          <p:nvPr/>
        </p:nvSpPr>
        <p:spPr>
          <a:xfrm>
            <a:off x="1632600" y="912960"/>
            <a:ext cx="5878440" cy="63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IN" sz="2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IoT Based Smart Irrigation in Arecanut Farms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5" name="Google Shape;36;p 2"/>
          <p:cNvSpPr/>
          <p:nvPr/>
        </p:nvSpPr>
        <p:spPr>
          <a:xfrm>
            <a:off x="716040" y="1479960"/>
            <a:ext cx="7737480" cy="316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1RV23MC039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HARI KETAN 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Under the Guidance 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Of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Dr. Renuka Prasad B              </a:t>
            </a:r>
            <a:r>
              <a:rPr b="0" lang="en-IN" sz="18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	</a:t>
            </a:r>
            <a:r>
              <a:rPr b="0" lang="en-IN" sz="18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	</a:t>
            </a:r>
            <a:r>
              <a:rPr b="0" lang="en-IN" sz="18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	</a:t>
            </a:r>
            <a:r>
              <a:rPr b="0" lang="en-IN" sz="18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	</a:t>
            </a:r>
            <a:r>
              <a:rPr b="0" lang="en-IN" sz="18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	</a:t>
            </a:r>
            <a:r>
              <a:rPr b="0" lang="en-IN" sz="18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 </a:t>
            </a:r>
            <a:r>
              <a:rPr b="0" lang="en-IN" sz="18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	</a:t>
            </a:r>
            <a:r>
              <a:rPr b="0" lang="en-IN" sz="18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     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Associate Professor                                     </a:t>
            </a:r>
            <a:r>
              <a:rPr b="0" lang="en-IN" sz="18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	</a:t>
            </a:r>
            <a:r>
              <a:rPr b="0" lang="en-IN" sz="18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	</a:t>
            </a:r>
            <a:r>
              <a:rPr b="0" lang="en-IN" sz="18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	</a:t>
            </a:r>
            <a:r>
              <a:rPr b="0" lang="en-IN" sz="18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     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Department of MCA                                 </a:t>
            </a:r>
            <a:r>
              <a:rPr b="0" lang="en-IN" sz="18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	</a:t>
            </a:r>
            <a:r>
              <a:rPr b="0" lang="en-IN" sz="18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	</a:t>
            </a:r>
            <a:r>
              <a:rPr b="0" lang="en-IN" sz="18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	</a:t>
            </a:r>
            <a:r>
              <a:rPr b="0" lang="en-IN" sz="18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     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6" name="Google Shape;38;p 2"/>
          <p:cNvSpPr/>
          <p:nvPr/>
        </p:nvSpPr>
        <p:spPr>
          <a:xfrm>
            <a:off x="2091600" y="159120"/>
            <a:ext cx="4957560" cy="63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IN" sz="2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Major Project – MCA491P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87" name="" descr=""/>
          <p:cNvPicPr/>
          <p:nvPr/>
        </p:nvPicPr>
        <p:blipFill>
          <a:blip r:embed="rId1"/>
          <a:stretch/>
        </p:blipFill>
        <p:spPr>
          <a:xfrm>
            <a:off x="6327000" y="3225960"/>
            <a:ext cx="1920960" cy="1099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38;p3"/>
          <p:cNvSpPr/>
          <p:nvPr/>
        </p:nvSpPr>
        <p:spPr>
          <a:xfrm>
            <a:off x="2055600" y="72720"/>
            <a:ext cx="4649400" cy="67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IN" sz="36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Introduction</a:t>
            </a:r>
            <a:endParaRPr b="0" lang="en-US" sz="3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9" name=""/>
          <p:cNvSpPr/>
          <p:nvPr/>
        </p:nvSpPr>
        <p:spPr>
          <a:xfrm>
            <a:off x="499680" y="1168560"/>
            <a:ext cx="7949520" cy="288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trike="noStrike" u="none">
                <a:solidFill>
                  <a:srgbClr val="000000"/>
                </a:solidFill>
                <a:uFillTx/>
                <a:latin typeface="Times New Roman"/>
              </a:rPr>
              <a:t>Arecanut is a vital commercial crop in India, especially in states like Karnataka, Kerala, and Tamil Nadu, where it supports thousands of small and medium-scale farmers.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trike="noStrike" u="none">
                <a:solidFill>
                  <a:srgbClr val="000000"/>
                </a:solidFill>
                <a:uFillTx/>
                <a:latin typeface="Times New Roman"/>
              </a:rPr>
              <a:t>Traditional irrigation methods for arecanut farms are mostly manual, leading to water wastage, inconsistent irrigation, and higher labor dependency.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trike="noStrike" u="none">
                <a:solidFill>
                  <a:srgbClr val="000000"/>
                </a:solidFill>
                <a:uFillTx/>
                <a:latin typeface="Times New Roman"/>
              </a:rPr>
              <a:t>This project aims to build a smart irrigation system that automates and optimizes water usage based on real-time soil and environmental conditions.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trike="noStrike" u="none">
                <a:solidFill>
                  <a:srgbClr val="000000"/>
                </a:solidFill>
                <a:uFillTx/>
                <a:latin typeface="Times New Roman"/>
              </a:rPr>
              <a:t>The system is designed to promote precision agriculture, improving crop yield while conserving water and reducing human effort.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59;p6"/>
          <p:cNvSpPr/>
          <p:nvPr/>
        </p:nvSpPr>
        <p:spPr>
          <a:xfrm>
            <a:off x="279000" y="2457360"/>
            <a:ext cx="360" cy="4399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66600" bIns="66600" anchor="ctr">
            <a:spAutoFit/>
          </a:bodyPr>
          <a:p>
            <a:pPr>
              <a:lnSpc>
                <a:spcPct val="100000"/>
              </a:lnSpc>
            </a:pPr>
            <a:endParaRPr b="0" lang="en-US" sz="2000" strike="noStrike" u="none">
              <a:solidFill>
                <a:schemeClr val="dk1"/>
              </a:solidFill>
              <a:uFillTx/>
              <a:latin typeface="Arial"/>
              <a:ea typeface="Arial"/>
            </a:endParaRPr>
          </a:p>
        </p:txBody>
      </p:sp>
      <p:sp>
        <p:nvSpPr>
          <p:cNvPr id="91" name="Google Shape;60;p6"/>
          <p:cNvSpPr/>
          <p:nvPr/>
        </p:nvSpPr>
        <p:spPr>
          <a:xfrm>
            <a:off x="1911240" y="136800"/>
            <a:ext cx="6103440" cy="63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IN" sz="36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Objectives</a:t>
            </a:r>
            <a:r>
              <a:rPr b="0" lang="en-IN" sz="40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 </a:t>
            </a:r>
            <a:endParaRPr b="0" lang="en-US" sz="4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763560" y="1157400"/>
            <a:ext cx="7535880" cy="272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3" name=""/>
          <p:cNvSpPr/>
          <p:nvPr/>
        </p:nvSpPr>
        <p:spPr>
          <a:xfrm>
            <a:off x="612000" y="1091520"/>
            <a:ext cx="7719120" cy="30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200" strike="noStrike" u="none">
                <a:solidFill>
                  <a:srgbClr val="000000"/>
                </a:solidFill>
                <a:uFillTx/>
                <a:latin typeface="Times New Roman"/>
              </a:rPr>
              <a:t>To develop an IoT-based smart irrigation system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200" strike="noStrike" u="none">
                <a:solidFill>
                  <a:srgbClr val="000000"/>
                </a:solidFill>
                <a:uFillTx/>
                <a:latin typeface="Times New Roman"/>
                <a:ea typeface="Noto Sans CJK SC"/>
              </a:rPr>
              <a:t>To automate irrigation in arecanut farms using IoT devices to reduce manual work.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200" strike="noStrike" u="none">
                <a:solidFill>
                  <a:srgbClr val="000000"/>
                </a:solidFill>
                <a:uFillTx/>
                <a:latin typeface="Times New Roman"/>
                <a:ea typeface="Noto Sans CJK SC"/>
              </a:rPr>
              <a:t>To monitor soil moisture and water flow using sensors to ensure proper watering.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200" strike="noStrike" u="none">
                <a:solidFill>
                  <a:srgbClr val="000000"/>
                </a:solidFill>
                <a:uFillTx/>
                <a:latin typeface="Times New Roman"/>
                <a:ea typeface="Noto Sans CJK SC"/>
              </a:rPr>
              <a:t>To control water flow with a motorized valve based on real-time sensor readings.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200" strike="noStrike" u="none">
                <a:solidFill>
                  <a:srgbClr val="000000"/>
                </a:solidFill>
                <a:uFillTx/>
                <a:latin typeface="Times New Roman"/>
                <a:ea typeface="Noto Sans CJK SC"/>
              </a:rPr>
              <a:t>To display live data on a web interface to help farmers monitor conditions remotely.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85;p7"/>
          <p:cNvSpPr/>
          <p:nvPr/>
        </p:nvSpPr>
        <p:spPr>
          <a:xfrm>
            <a:off x="1356480" y="324000"/>
            <a:ext cx="23400" cy="23400"/>
          </a:xfrm>
          <a:custGeom>
            <a:avLst/>
            <a:gdLst>
              <a:gd name="textAreaLeft" fmla="*/ 0 w 23400"/>
              <a:gd name="textAreaRight" fmla="*/ 25920 w 23400"/>
              <a:gd name="textAreaTop" fmla="*/ 0 h 23400"/>
              <a:gd name="textAreaBottom" fmla="*/ 25920 h 23400"/>
            </a:gdLst>
            <a:ahLst/>
            <a:rect l="textAreaLeft" t="textAreaTop" r="textAreaRight" b="textAreaBottom"/>
            <a:pathLst>
              <a:path w="56514" h="56515">
                <a:moveTo>
                  <a:pt x="28145" y="0"/>
                </a:moveTo>
                <a:lnTo>
                  <a:pt x="17201" y="2207"/>
                </a:lnTo>
                <a:lnTo>
                  <a:pt x="8253" y="8227"/>
                </a:lnTo>
                <a:lnTo>
                  <a:pt x="2215" y="17157"/>
                </a:lnTo>
                <a:lnTo>
                  <a:pt x="0" y="28093"/>
                </a:lnTo>
                <a:lnTo>
                  <a:pt x="2215" y="39037"/>
                </a:lnTo>
                <a:lnTo>
                  <a:pt x="8253" y="47985"/>
                </a:lnTo>
                <a:lnTo>
                  <a:pt x="17201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3" y="50280"/>
                </a:lnTo>
                <a:lnTo>
                  <a:pt x="11109" y="45113"/>
                </a:lnTo>
                <a:lnTo>
                  <a:pt x="5952" y="37457"/>
                </a:lnTo>
                <a:lnTo>
                  <a:pt x="4062" y="28093"/>
                </a:lnTo>
                <a:lnTo>
                  <a:pt x="5952" y="18722"/>
                </a:lnTo>
                <a:lnTo>
                  <a:pt x="11109" y="11052"/>
                </a:lnTo>
                <a:lnTo>
                  <a:pt x="18763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7" y="5870"/>
                </a:lnTo>
                <a:lnTo>
                  <a:pt x="45181" y="11052"/>
                </a:lnTo>
                <a:lnTo>
                  <a:pt x="50338" y="18722"/>
                </a:lnTo>
                <a:lnTo>
                  <a:pt x="52228" y="28093"/>
                </a:lnTo>
                <a:lnTo>
                  <a:pt x="50338" y="37457"/>
                </a:lnTo>
                <a:lnTo>
                  <a:pt x="45181" y="45113"/>
                </a:lnTo>
                <a:lnTo>
                  <a:pt x="37527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uFillTx/>
              <a:latin typeface="Arial"/>
              <a:ea typeface="Arial"/>
            </a:endParaRPr>
          </a:p>
        </p:txBody>
      </p:sp>
      <p:sp>
        <p:nvSpPr>
          <p:cNvPr id="95" name="Google Shape;86;p 2"/>
          <p:cNvSpPr/>
          <p:nvPr/>
        </p:nvSpPr>
        <p:spPr>
          <a:xfrm>
            <a:off x="1363680" y="329400"/>
            <a:ext cx="9000" cy="11880"/>
          </a:xfrm>
          <a:custGeom>
            <a:avLst/>
            <a:gdLst>
              <a:gd name="textAreaLeft" fmla="*/ 0 w 9000"/>
              <a:gd name="textAreaRight" fmla="*/ 11520 w 9000"/>
              <a:gd name="textAreaTop" fmla="*/ 0 h 11880"/>
              <a:gd name="textAreaBottom" fmla="*/ 14400 h 11880"/>
            </a:gdLst>
            <a:ahLst/>
            <a:rect l="textAreaLeft" t="textAreaTop" r="textAreaRight" b="textAreaBottom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39" y="5329"/>
                </a:lnTo>
                <a:lnTo>
                  <a:pt x="2188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37" y="18292"/>
                </a:lnTo>
                <a:lnTo>
                  <a:pt x="9727" y="18680"/>
                </a:lnTo>
                <a:lnTo>
                  <a:pt x="11465" y="19999"/>
                </a:lnTo>
                <a:lnTo>
                  <a:pt x="14470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39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4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26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39" y="5329"/>
                </a:lnTo>
                <a:close/>
              </a:path>
            </a:pathLst>
          </a:custGeom>
          <a:solidFill>
            <a:srgbClr val="231f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uFillTx/>
              <a:latin typeface="Arial"/>
              <a:ea typeface="Arial"/>
            </a:endParaRPr>
          </a:p>
        </p:txBody>
      </p:sp>
      <p:sp>
        <p:nvSpPr>
          <p:cNvPr id="96" name="Google Shape;89;p 2"/>
          <p:cNvSpPr/>
          <p:nvPr/>
        </p:nvSpPr>
        <p:spPr>
          <a:xfrm>
            <a:off x="2300040" y="311760"/>
            <a:ext cx="4123080" cy="2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IN" sz="36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Design Methodology</a:t>
            </a:r>
            <a:endParaRPr b="0" lang="en-US" sz="3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aphicFrame>
        <p:nvGraphicFramePr>
          <p:cNvPr id="97" name="Google Shape;69;p 1"/>
          <p:cNvGraphicFramePr/>
          <p:nvPr/>
        </p:nvGraphicFramePr>
        <p:xfrm>
          <a:off x="763560" y="1121400"/>
          <a:ext cx="7485480" cy="1922760"/>
        </p:xfrm>
        <a:graphic>
          <a:graphicData uri="http://schemas.openxmlformats.org/drawingml/2006/table">
            <a:tbl>
              <a:tblPr/>
              <a:tblGrid>
                <a:gridCol w="623880"/>
                <a:gridCol w="2725560"/>
                <a:gridCol w="4136400"/>
              </a:tblGrid>
              <a:tr h="27468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IN" sz="1200" strike="noStrike" u="none">
                          <a:solidFill>
                            <a:schemeClr val="lt1"/>
                          </a:solidFill>
                          <a:uFillTx/>
                          <a:latin typeface="Times New Roman"/>
                          <a:ea typeface="Times New Roman"/>
                        </a:rPr>
                        <a:t>Sl No 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IN" sz="1200" strike="noStrike" u="none">
                          <a:solidFill>
                            <a:schemeClr val="lt1"/>
                          </a:solidFill>
                          <a:uFillTx/>
                          <a:latin typeface="Times New Roman"/>
                          <a:ea typeface="Times New Roman"/>
                        </a:rPr>
                        <a:t>Components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IN" sz="1200" strike="noStrike" u="none">
                          <a:solidFill>
                            <a:schemeClr val="lt1"/>
                          </a:solidFill>
                          <a:uFillTx/>
                          <a:latin typeface="Times New Roman"/>
                          <a:ea typeface="Times New Roman"/>
                        </a:rPr>
                        <a:t>Purpose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2746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IN" sz="1200" strike="noStrike" u="none">
                          <a:solidFill>
                            <a:schemeClr val="dk1"/>
                          </a:solidFill>
                          <a:uFillTx/>
                          <a:latin typeface="Times New Roman"/>
                          <a:ea typeface="Times New Roman"/>
                        </a:rPr>
                        <a:t>1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1200" strike="noStrike" u="none">
                          <a:solidFill>
                            <a:schemeClr val="dk1"/>
                          </a:solidFill>
                          <a:uFillTx/>
                          <a:latin typeface="Times New Roman"/>
                          <a:ea typeface="Times New Roman"/>
                        </a:rPr>
                        <a:t>ESP32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1200" strike="noStrike" u="none">
                          <a:solidFill>
                            <a:schemeClr val="dk1"/>
                          </a:solidFill>
                          <a:uFillTx/>
                          <a:latin typeface="Times New Roman"/>
                          <a:ea typeface="Times New Roman"/>
                        </a:rPr>
                        <a:t>Collects data from sensors; sends via MQTT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</a:tr>
              <a:tr h="2746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2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Soil Moisture Sensor (Capacitive V2.0)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Monitors real-time moisture near root zone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</a:tr>
              <a:tr h="2746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3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Water Flow Sensor (e.g., YF-S201)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Measures volume of water supplied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</a:tr>
              <a:tr h="2746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4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Motorized Valve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Controls irrigation based on command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</a:tr>
              <a:tr h="2746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5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Wi-Fi Relay Module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Activates valve based on control logic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</a:tr>
              <a:tr h="2746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6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Raspberry Pi (Gateway)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Receives MQTT data; handles control logic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8" name="Google Shape;69;p 2"/>
          <p:cNvGraphicFramePr/>
          <p:nvPr/>
        </p:nvGraphicFramePr>
        <p:xfrm>
          <a:off x="772200" y="3382200"/>
          <a:ext cx="7485480" cy="1638720"/>
        </p:xfrm>
        <a:graphic>
          <a:graphicData uri="http://schemas.openxmlformats.org/drawingml/2006/table">
            <a:tbl>
              <a:tblPr/>
              <a:tblGrid>
                <a:gridCol w="621000"/>
                <a:gridCol w="2449440"/>
                <a:gridCol w="4415400"/>
              </a:tblGrid>
              <a:tr h="27324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IN" sz="1200" strike="noStrike" u="none">
                          <a:solidFill>
                            <a:schemeClr val="lt1"/>
                          </a:solidFill>
                          <a:uFillTx/>
                          <a:latin typeface="Times New Roman"/>
                          <a:ea typeface="Times New Roman"/>
                        </a:rPr>
                        <a:t>Sl No 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IN" sz="1200" strike="noStrike" u="none">
                          <a:solidFill>
                            <a:schemeClr val="lt1"/>
                          </a:solidFill>
                          <a:uFillTx/>
                          <a:latin typeface="Times New Roman"/>
                          <a:ea typeface="Times New Roman"/>
                        </a:rPr>
                        <a:t>Components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IN" sz="1200" strike="noStrike" u="none">
                          <a:solidFill>
                            <a:schemeClr val="lt1"/>
                          </a:solidFill>
                          <a:uFillTx/>
                          <a:latin typeface="Times New Roman"/>
                          <a:ea typeface="Times New Roman"/>
                        </a:rPr>
                        <a:t>Purpose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2732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IN" sz="1200" strike="noStrike" u="none">
                          <a:solidFill>
                            <a:schemeClr val="dk1"/>
                          </a:solidFill>
                          <a:uFillTx/>
                          <a:latin typeface="Times New Roman"/>
                          <a:ea typeface="Times New Roman"/>
                        </a:rPr>
                        <a:t>1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1200" strike="noStrike" u="none">
                          <a:solidFill>
                            <a:schemeClr val="dk1"/>
                          </a:solidFill>
                          <a:uFillTx/>
                          <a:latin typeface="Times New Roman"/>
                          <a:ea typeface="Times New Roman"/>
                        </a:rPr>
                        <a:t>Next.js (Frontend)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1200" strike="noStrike" u="none">
                          <a:solidFill>
                            <a:schemeClr val="dk1"/>
                          </a:solidFill>
                          <a:uFillTx/>
                          <a:latin typeface="Times New Roman"/>
                          <a:ea typeface="Times New Roman"/>
                        </a:rPr>
                        <a:t>Web dashboard for farmers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</a:tr>
              <a:tr h="2732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2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MQTT Broker (Mosquitto)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Lightweight messaging protocol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</a:tr>
              <a:tr h="2732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3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PostgreSQL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Database to store sensor readings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</a:tr>
              <a:tr h="2732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4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Node.js + Express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API backend for sensor data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</a:tr>
              <a:tr h="2725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5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MicroPython / Arduino IDE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Programming ESP32 sensor logic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</a:tr>
            </a:tbl>
          </a:graphicData>
        </a:graphic>
      </p:graphicFrame>
      <p:sp>
        <p:nvSpPr>
          <p:cNvPr id="99" name=""/>
          <p:cNvSpPr/>
          <p:nvPr/>
        </p:nvSpPr>
        <p:spPr>
          <a:xfrm>
            <a:off x="807480" y="873000"/>
            <a:ext cx="1927440" cy="37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200" strike="noStrike" u="none">
                <a:solidFill>
                  <a:srgbClr val="000000"/>
                </a:solidFill>
                <a:uFillTx/>
                <a:latin typeface="Times New Roman"/>
              </a:rPr>
              <a:t>Hardware Requirements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0" name=""/>
          <p:cNvSpPr/>
          <p:nvPr/>
        </p:nvSpPr>
        <p:spPr>
          <a:xfrm>
            <a:off x="772200" y="3099960"/>
            <a:ext cx="1927440" cy="37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200" strike="noStrike" u="none">
                <a:solidFill>
                  <a:srgbClr val="000000"/>
                </a:solidFill>
                <a:uFillTx/>
                <a:latin typeface="Times New Roman"/>
              </a:rPr>
              <a:t>Software Requirements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95;p9"/>
          <p:cNvSpPr/>
          <p:nvPr/>
        </p:nvSpPr>
        <p:spPr>
          <a:xfrm>
            <a:off x="2982960" y="712800"/>
            <a:ext cx="52560" cy="52560"/>
          </a:xfrm>
          <a:custGeom>
            <a:avLst/>
            <a:gdLst>
              <a:gd name="textAreaLeft" fmla="*/ 0 w 52560"/>
              <a:gd name="textAreaRight" fmla="*/ 57240 w 52560"/>
              <a:gd name="textAreaTop" fmla="*/ 0 h 52560"/>
              <a:gd name="textAreaBottom" fmla="*/ 57240 h 52560"/>
            </a:gdLst>
            <a:ahLst/>
            <a:rect l="textAreaLeft" t="textAreaTop" r="textAreaRight" b="textAreaBottom"/>
            <a:pathLst>
              <a:path w="56514" h="56515">
                <a:moveTo>
                  <a:pt x="28145" y="0"/>
                </a:moveTo>
                <a:lnTo>
                  <a:pt x="17201" y="2207"/>
                </a:lnTo>
                <a:lnTo>
                  <a:pt x="8253" y="8227"/>
                </a:lnTo>
                <a:lnTo>
                  <a:pt x="2215" y="17157"/>
                </a:lnTo>
                <a:lnTo>
                  <a:pt x="0" y="28093"/>
                </a:lnTo>
                <a:lnTo>
                  <a:pt x="2215" y="39037"/>
                </a:lnTo>
                <a:lnTo>
                  <a:pt x="8253" y="47985"/>
                </a:lnTo>
                <a:lnTo>
                  <a:pt x="17201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3" y="50280"/>
                </a:lnTo>
                <a:lnTo>
                  <a:pt x="11109" y="45113"/>
                </a:lnTo>
                <a:lnTo>
                  <a:pt x="5952" y="37457"/>
                </a:lnTo>
                <a:lnTo>
                  <a:pt x="4062" y="28093"/>
                </a:lnTo>
                <a:lnTo>
                  <a:pt x="5952" y="18722"/>
                </a:lnTo>
                <a:lnTo>
                  <a:pt x="11109" y="11052"/>
                </a:lnTo>
                <a:lnTo>
                  <a:pt x="18763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7" y="5870"/>
                </a:lnTo>
                <a:lnTo>
                  <a:pt x="45181" y="11052"/>
                </a:lnTo>
                <a:lnTo>
                  <a:pt x="50338" y="18722"/>
                </a:lnTo>
                <a:lnTo>
                  <a:pt x="52228" y="28093"/>
                </a:lnTo>
                <a:lnTo>
                  <a:pt x="50338" y="37457"/>
                </a:lnTo>
                <a:lnTo>
                  <a:pt x="45181" y="45113"/>
                </a:lnTo>
                <a:lnTo>
                  <a:pt x="37527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uFillTx/>
              <a:latin typeface="Arial"/>
              <a:ea typeface="Arial"/>
            </a:endParaRPr>
          </a:p>
        </p:txBody>
      </p:sp>
      <p:sp>
        <p:nvSpPr>
          <p:cNvPr id="102" name="Google Shape;96;p 2"/>
          <p:cNvSpPr/>
          <p:nvPr/>
        </p:nvSpPr>
        <p:spPr>
          <a:xfrm>
            <a:off x="2998800" y="725400"/>
            <a:ext cx="20880" cy="27000"/>
          </a:xfrm>
          <a:custGeom>
            <a:avLst/>
            <a:gdLst>
              <a:gd name="textAreaLeft" fmla="*/ 0 w 20880"/>
              <a:gd name="textAreaRight" fmla="*/ 25560 w 20880"/>
              <a:gd name="textAreaTop" fmla="*/ 0 h 27000"/>
              <a:gd name="textAreaBottom" fmla="*/ 31680 h 27000"/>
            </a:gdLst>
            <a:ahLst/>
            <a:rect l="textAreaLeft" t="textAreaTop" r="textAreaRight" b="textAreaBottom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39" y="5329"/>
                </a:lnTo>
                <a:lnTo>
                  <a:pt x="2188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37" y="18292"/>
                </a:lnTo>
                <a:lnTo>
                  <a:pt x="9727" y="18680"/>
                </a:lnTo>
                <a:lnTo>
                  <a:pt x="11465" y="19999"/>
                </a:lnTo>
                <a:lnTo>
                  <a:pt x="14470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39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4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26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39" y="5329"/>
                </a:lnTo>
                <a:close/>
              </a:path>
            </a:pathLst>
          </a:custGeom>
          <a:solidFill>
            <a:srgbClr val="231f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uFillTx/>
              <a:latin typeface="Arial"/>
              <a:ea typeface="Arial"/>
            </a:endParaRPr>
          </a:p>
        </p:txBody>
      </p:sp>
      <p:sp>
        <p:nvSpPr>
          <p:cNvPr id="103" name="PlaceHolder 1"/>
          <p:cNvSpPr>
            <a:spLocks noGrp="1"/>
          </p:cNvSpPr>
          <p:nvPr>
            <p:ph type="sldNum" idx="20"/>
          </p:nvPr>
        </p:nvSpPr>
        <p:spPr>
          <a:xfrm>
            <a:off x="18627840" y="10253160"/>
            <a:ext cx="1200600" cy="85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22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93578A8-7A29-4380-949D-A9099F721C93}" type="slidenum">
              <a:rPr b="0" lang="en-IN" sz="22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2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04" name="Google Shape;98;p 2"/>
          <p:cNvSpPr/>
          <p:nvPr/>
        </p:nvSpPr>
        <p:spPr>
          <a:xfrm>
            <a:off x="362880" y="926640"/>
            <a:ext cx="8685000" cy="427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>
              <a:lnSpc>
                <a:spcPct val="100000"/>
              </a:lnSpc>
              <a:spcBef>
                <a:spcPts val="57"/>
              </a:spcBef>
              <a:tabLst>
                <a:tab algn="l" pos="0"/>
              </a:tabLst>
            </a:pPr>
            <a:r>
              <a:rPr b="1" lang="en-IN" sz="11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Module Name: Soil Moisture Monitoring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57"/>
              </a:spcBef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IN" sz="11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Purpose: To continuously measure soil moisture and determine irrigation need.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57"/>
              </a:spcBef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IN" sz="11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Input: Analog signal from capacitive soil moisture sensor.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57"/>
              </a:spcBef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IN" sz="11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Function: Converts sensor data to digital, compares against threshold, sends to backend.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57"/>
              </a:spcBef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IN" sz="11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Output: Moisture percentage, timestamp, and section ID pushed via MQTT.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57"/>
              </a:spcBef>
              <a:tabLst>
                <a:tab algn="l" pos="0"/>
              </a:tabLst>
            </a:pP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57"/>
              </a:spcBef>
              <a:tabLst>
                <a:tab algn="l" pos="0"/>
              </a:tabLst>
            </a:pPr>
            <a:r>
              <a:rPr b="1" lang="en-IN" sz="11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Module Name: Water Requirement Calculation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57"/>
              </a:spcBef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IN" sz="11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Purpose: To fetch the ideal water requirement for a section based on crop age, month, and soil.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57"/>
              </a:spcBef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IN" sz="11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Input: Soil type, current month, plant age (from planting date).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57"/>
              </a:spcBef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IN" sz="11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Function: Fetches required value from Water_Requirement table.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57"/>
              </a:spcBef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IN" sz="11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Output: Ideal liters/day/palm value used by decision logic.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57"/>
              </a:spcBef>
              <a:tabLst>
                <a:tab algn="l" pos="0"/>
              </a:tabLst>
            </a:pP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57"/>
              </a:spcBef>
              <a:tabLst>
                <a:tab algn="l" pos="0"/>
              </a:tabLst>
            </a:pPr>
            <a:r>
              <a:rPr b="1" lang="en-IN" sz="11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Module Name: Irrigation Control (Auto/Manual)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57"/>
              </a:spcBef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IN" sz="11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Purpose: To control the valve state based on logic or manual command.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57"/>
              </a:spcBef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IN" sz="11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Input: Mode (AUTO/MANUAL), moisture value, required water, user input.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57"/>
              </a:spcBef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IN" sz="11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Function: If AUTO: checks if moisture &lt; threshold; triggers relay via Raspberry Pi. If MANUAL: user control overrides logic.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57"/>
              </a:spcBef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IN" sz="11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Output: Valve ON/OFF signal, recorded in control log.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57"/>
              </a:spcBef>
              <a:tabLst>
                <a:tab algn="l" pos="0"/>
              </a:tabLst>
            </a:pP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57"/>
              </a:spcBef>
              <a:tabLst>
                <a:tab algn="l" pos="0"/>
              </a:tabLst>
            </a:pPr>
            <a:r>
              <a:rPr b="1" lang="en-IN" sz="11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Module Name: Water Flow Monitoring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57"/>
              </a:spcBef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IN" sz="11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Purpose: To measure actual water delivered during irrigation.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57"/>
              </a:spcBef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IN" sz="11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Input: Digital pulses from flow sensor (YF-S201).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57"/>
              </a:spcBef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IN" sz="11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Function: Converts pulses to L/min, multiplies by duration to get volume.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57"/>
              </a:spcBef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IN" sz="11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Output: Water volume in liters; logs for accuracy tracking.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57"/>
              </a:spcBef>
              <a:tabLst>
                <a:tab algn="l" pos="0"/>
              </a:tabLst>
            </a:pP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5" name="Google Shape;99;p 2"/>
          <p:cNvSpPr/>
          <p:nvPr/>
        </p:nvSpPr>
        <p:spPr>
          <a:xfrm>
            <a:off x="-190800" y="290520"/>
            <a:ext cx="9524880" cy="63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IN" sz="26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Functional Requirements Specification 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5;p10"/>
          <p:cNvSpPr/>
          <p:nvPr/>
        </p:nvSpPr>
        <p:spPr>
          <a:xfrm>
            <a:off x="3749400" y="1399320"/>
            <a:ext cx="31680" cy="29520"/>
          </a:xfrm>
          <a:custGeom>
            <a:avLst/>
            <a:gdLst>
              <a:gd name="textAreaLeft" fmla="*/ 0 w 31680"/>
              <a:gd name="textAreaRight" fmla="*/ 34920 w 31680"/>
              <a:gd name="textAreaTop" fmla="*/ 0 h 29520"/>
              <a:gd name="textAreaBottom" fmla="*/ 32400 h 29520"/>
            </a:gdLst>
            <a:ahLst/>
            <a:rect l="textAreaLeft" t="textAreaTop" r="textAreaRight" b="textAreaBottom"/>
            <a:pathLst>
              <a:path w="56514" h="56515">
                <a:moveTo>
                  <a:pt x="28145" y="0"/>
                </a:moveTo>
                <a:lnTo>
                  <a:pt x="17201" y="2207"/>
                </a:lnTo>
                <a:lnTo>
                  <a:pt x="8253" y="8227"/>
                </a:lnTo>
                <a:lnTo>
                  <a:pt x="2215" y="17157"/>
                </a:lnTo>
                <a:lnTo>
                  <a:pt x="0" y="28093"/>
                </a:lnTo>
                <a:lnTo>
                  <a:pt x="2215" y="39037"/>
                </a:lnTo>
                <a:lnTo>
                  <a:pt x="8253" y="47985"/>
                </a:lnTo>
                <a:lnTo>
                  <a:pt x="17201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3" y="50280"/>
                </a:lnTo>
                <a:lnTo>
                  <a:pt x="11109" y="45113"/>
                </a:lnTo>
                <a:lnTo>
                  <a:pt x="5952" y="37457"/>
                </a:lnTo>
                <a:lnTo>
                  <a:pt x="4062" y="28093"/>
                </a:lnTo>
                <a:lnTo>
                  <a:pt x="5952" y="18722"/>
                </a:lnTo>
                <a:lnTo>
                  <a:pt x="11109" y="11052"/>
                </a:lnTo>
                <a:lnTo>
                  <a:pt x="18763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7" y="5870"/>
                </a:lnTo>
                <a:lnTo>
                  <a:pt x="45181" y="11052"/>
                </a:lnTo>
                <a:lnTo>
                  <a:pt x="50338" y="18722"/>
                </a:lnTo>
                <a:lnTo>
                  <a:pt x="52228" y="28093"/>
                </a:lnTo>
                <a:lnTo>
                  <a:pt x="50338" y="37457"/>
                </a:lnTo>
                <a:lnTo>
                  <a:pt x="45181" y="45113"/>
                </a:lnTo>
                <a:lnTo>
                  <a:pt x="37527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uFillTx/>
              <a:latin typeface="Arial"/>
              <a:ea typeface="Arial"/>
            </a:endParaRPr>
          </a:p>
        </p:txBody>
      </p:sp>
      <p:sp>
        <p:nvSpPr>
          <p:cNvPr id="107" name="Google Shape;106;p10"/>
          <p:cNvSpPr/>
          <p:nvPr/>
        </p:nvSpPr>
        <p:spPr>
          <a:xfrm>
            <a:off x="3759120" y="1406160"/>
            <a:ext cx="12240" cy="15120"/>
          </a:xfrm>
          <a:custGeom>
            <a:avLst/>
            <a:gdLst>
              <a:gd name="textAreaLeft" fmla="*/ 0 w 12240"/>
              <a:gd name="textAreaRight" fmla="*/ 15480 w 12240"/>
              <a:gd name="textAreaTop" fmla="*/ 0 h 15120"/>
              <a:gd name="textAreaBottom" fmla="*/ 18000 h 15120"/>
            </a:gdLst>
            <a:ahLst/>
            <a:rect l="textAreaLeft" t="textAreaTop" r="textAreaRight" b="textAreaBottom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39" y="5329"/>
                </a:lnTo>
                <a:lnTo>
                  <a:pt x="2188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37" y="18292"/>
                </a:lnTo>
                <a:lnTo>
                  <a:pt x="9727" y="18680"/>
                </a:lnTo>
                <a:lnTo>
                  <a:pt x="11465" y="19999"/>
                </a:lnTo>
                <a:lnTo>
                  <a:pt x="14470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39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4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26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39" y="5329"/>
                </a:lnTo>
                <a:close/>
              </a:path>
            </a:pathLst>
          </a:custGeom>
          <a:solidFill>
            <a:srgbClr val="231f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uFillTx/>
              <a:latin typeface="Arial"/>
              <a:ea typeface="Arial"/>
            </a:endParaRPr>
          </a:p>
        </p:txBody>
      </p:sp>
      <p:sp>
        <p:nvSpPr>
          <p:cNvPr id="108" name="PlaceHolder 5"/>
          <p:cNvSpPr/>
          <p:nvPr/>
        </p:nvSpPr>
        <p:spPr>
          <a:xfrm>
            <a:off x="13277160" y="6828480"/>
            <a:ext cx="730800" cy="48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rmAutofit lnSpcReduction="9999"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1055976B-CC37-4D05-ABA3-82D95F470AD3}" type="slidenum">
              <a:rPr b="0" lang="en-IN" sz="22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9" name="Google Shape;109;p10"/>
          <p:cNvSpPr/>
          <p:nvPr/>
        </p:nvSpPr>
        <p:spPr>
          <a:xfrm>
            <a:off x="1297800" y="438840"/>
            <a:ext cx="6477480" cy="36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IN" sz="2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Non-Functional Requirements Specification 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aphicFrame>
        <p:nvGraphicFramePr>
          <p:cNvPr id="110" name="Google Shape;69;p 3"/>
          <p:cNvGraphicFramePr/>
          <p:nvPr/>
        </p:nvGraphicFramePr>
        <p:xfrm>
          <a:off x="675720" y="1138680"/>
          <a:ext cx="7338960" cy="2412000"/>
        </p:xfrm>
        <a:graphic>
          <a:graphicData uri="http://schemas.openxmlformats.org/drawingml/2006/table">
            <a:tbl>
              <a:tblPr/>
              <a:tblGrid>
                <a:gridCol w="604800"/>
                <a:gridCol w="2384640"/>
                <a:gridCol w="4349880"/>
              </a:tblGrid>
              <a:tr h="26100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IN" sz="1200" strike="noStrike" u="none">
                          <a:solidFill>
                            <a:schemeClr val="lt1"/>
                          </a:solidFill>
                          <a:uFillTx/>
                          <a:latin typeface="Times New Roman"/>
                          <a:ea typeface="Times New Roman"/>
                        </a:rPr>
                        <a:t>Sl No 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IN" sz="1200" strike="noStrike" u="none">
                          <a:solidFill>
                            <a:schemeClr val="lt1"/>
                          </a:solidFill>
                          <a:uFillTx/>
                          <a:latin typeface="Times New Roman"/>
                          <a:ea typeface="Times New Roman"/>
                        </a:rPr>
                        <a:t>Components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IN" sz="1200" strike="noStrike" u="none">
                          <a:solidFill>
                            <a:schemeClr val="lt1"/>
                          </a:solidFill>
                          <a:uFillTx/>
                          <a:latin typeface="Times New Roman"/>
                          <a:ea typeface="Times New Roman"/>
                        </a:rPr>
                        <a:t>Purpose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2610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IN" sz="1200" strike="noStrike" u="none">
                          <a:solidFill>
                            <a:schemeClr val="dk1"/>
                          </a:solidFill>
                          <a:uFillTx/>
                          <a:latin typeface="Times New Roman"/>
                          <a:ea typeface="Times New Roman"/>
                        </a:rPr>
                        <a:t>1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b="0" lang="en-IN" sz="1200" strike="noStrike" u="none">
                          <a:solidFill>
                            <a:schemeClr val="dk1"/>
                          </a:solidFill>
                          <a:uFillTx/>
                          <a:latin typeface="Times New Roman"/>
                          <a:ea typeface="Times New Roman"/>
                        </a:rPr>
                        <a:t>Performance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b="0" lang="en-IN" sz="1200" strike="noStrike" u="none">
                          <a:solidFill>
                            <a:schemeClr val="dk1"/>
                          </a:solidFill>
                          <a:uFillTx/>
                          <a:latin typeface="Times New Roman"/>
                          <a:ea typeface="Times New Roman"/>
                        </a:rPr>
                        <a:t>The system shall respond to sensor updates and take control actions within 10 seconds.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</a:tr>
              <a:tr h="2610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2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Scalability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The system shall support up to 4 farm sections and 20 sensors without performance degradation.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</a:tr>
              <a:tr h="2610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3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Accuracy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Moisture readings should have an accuracy of ±5%, and flow readings ±10%.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</a:tr>
              <a:tr h="2610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4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Reliability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System actions (irrigation ON/OFF) must execute correctly 100% of the time based on logic.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</a:tr>
              <a:tr h="2610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5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Data Logging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All sensor and control actions shall be logged and retrievable for a minimum of 30 days.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uFillTx/>
                <a:latin typeface="Times New Roman"/>
              </a:rPr>
              <a:t>Fritzing Diagram</a:t>
            </a:r>
            <a:endParaRPr b="0" lang="en-US" sz="3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12" name="" descr=""/>
          <p:cNvPicPr/>
          <p:nvPr/>
        </p:nvPicPr>
        <p:blipFill>
          <a:blip r:embed="rId1"/>
          <a:stretch/>
        </p:blipFill>
        <p:spPr>
          <a:xfrm>
            <a:off x="1748520" y="1027440"/>
            <a:ext cx="5629680" cy="4101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3" name=""/>
          <p:cNvSpPr/>
          <p:nvPr/>
        </p:nvSpPr>
        <p:spPr>
          <a:xfrm>
            <a:off x="5777280" y="913680"/>
            <a:ext cx="1600920" cy="37404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5;p11"/>
          <p:cNvSpPr/>
          <p:nvPr/>
        </p:nvSpPr>
        <p:spPr>
          <a:xfrm>
            <a:off x="1356480" y="324000"/>
            <a:ext cx="23400" cy="23400"/>
          </a:xfrm>
          <a:custGeom>
            <a:avLst/>
            <a:gdLst>
              <a:gd name="textAreaLeft" fmla="*/ 0 w 23400"/>
              <a:gd name="textAreaRight" fmla="*/ 25920 w 23400"/>
              <a:gd name="textAreaTop" fmla="*/ 0 h 23400"/>
              <a:gd name="textAreaBottom" fmla="*/ 25920 h 23400"/>
            </a:gdLst>
            <a:ahLst/>
            <a:rect l="textAreaLeft" t="textAreaTop" r="textAreaRight" b="textAreaBottom"/>
            <a:pathLst>
              <a:path w="56514" h="56515">
                <a:moveTo>
                  <a:pt x="28145" y="0"/>
                </a:moveTo>
                <a:lnTo>
                  <a:pt x="17201" y="2207"/>
                </a:lnTo>
                <a:lnTo>
                  <a:pt x="8253" y="8227"/>
                </a:lnTo>
                <a:lnTo>
                  <a:pt x="2215" y="17157"/>
                </a:lnTo>
                <a:lnTo>
                  <a:pt x="0" y="28093"/>
                </a:lnTo>
                <a:lnTo>
                  <a:pt x="2215" y="39037"/>
                </a:lnTo>
                <a:lnTo>
                  <a:pt x="8253" y="47985"/>
                </a:lnTo>
                <a:lnTo>
                  <a:pt x="17201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3" y="50280"/>
                </a:lnTo>
                <a:lnTo>
                  <a:pt x="11109" y="45113"/>
                </a:lnTo>
                <a:lnTo>
                  <a:pt x="5952" y="37457"/>
                </a:lnTo>
                <a:lnTo>
                  <a:pt x="4062" y="28093"/>
                </a:lnTo>
                <a:lnTo>
                  <a:pt x="5952" y="18722"/>
                </a:lnTo>
                <a:lnTo>
                  <a:pt x="11109" y="11052"/>
                </a:lnTo>
                <a:lnTo>
                  <a:pt x="18763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7" y="5870"/>
                </a:lnTo>
                <a:lnTo>
                  <a:pt x="45181" y="11052"/>
                </a:lnTo>
                <a:lnTo>
                  <a:pt x="50338" y="18722"/>
                </a:lnTo>
                <a:lnTo>
                  <a:pt x="52228" y="28093"/>
                </a:lnTo>
                <a:lnTo>
                  <a:pt x="50338" y="37457"/>
                </a:lnTo>
                <a:lnTo>
                  <a:pt x="45181" y="45113"/>
                </a:lnTo>
                <a:lnTo>
                  <a:pt x="37527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uFillTx/>
              <a:latin typeface="Arial"/>
              <a:ea typeface="Arial"/>
            </a:endParaRPr>
          </a:p>
        </p:txBody>
      </p:sp>
      <p:sp>
        <p:nvSpPr>
          <p:cNvPr id="115" name="Google Shape;116;p 2"/>
          <p:cNvSpPr/>
          <p:nvPr/>
        </p:nvSpPr>
        <p:spPr>
          <a:xfrm>
            <a:off x="1363680" y="329400"/>
            <a:ext cx="9000" cy="11880"/>
          </a:xfrm>
          <a:custGeom>
            <a:avLst/>
            <a:gdLst>
              <a:gd name="textAreaLeft" fmla="*/ 0 w 9000"/>
              <a:gd name="textAreaRight" fmla="*/ 11520 w 9000"/>
              <a:gd name="textAreaTop" fmla="*/ 0 h 11880"/>
              <a:gd name="textAreaBottom" fmla="*/ 14400 h 11880"/>
            </a:gdLst>
            <a:ahLst/>
            <a:rect l="textAreaLeft" t="textAreaTop" r="textAreaRight" b="textAreaBottom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39" y="5329"/>
                </a:lnTo>
                <a:lnTo>
                  <a:pt x="2188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37" y="18292"/>
                </a:lnTo>
                <a:lnTo>
                  <a:pt x="9727" y="18680"/>
                </a:lnTo>
                <a:lnTo>
                  <a:pt x="11465" y="19999"/>
                </a:lnTo>
                <a:lnTo>
                  <a:pt x="14470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39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4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26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39" y="5329"/>
                </a:lnTo>
                <a:close/>
              </a:path>
            </a:pathLst>
          </a:custGeom>
          <a:solidFill>
            <a:srgbClr val="231f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uFillTx/>
              <a:latin typeface="Arial"/>
              <a:ea typeface="Arial"/>
            </a:endParaRPr>
          </a:p>
        </p:txBody>
      </p:sp>
      <p:sp>
        <p:nvSpPr>
          <p:cNvPr id="116" name="Google Shape;119;p 1"/>
          <p:cNvSpPr/>
          <p:nvPr/>
        </p:nvSpPr>
        <p:spPr>
          <a:xfrm>
            <a:off x="2300040" y="421200"/>
            <a:ext cx="4123080" cy="2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IN" sz="36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System Design</a:t>
            </a:r>
            <a:endParaRPr b="0" lang="en-US" sz="3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7" name="Google Shape;119;p 4"/>
          <p:cNvSpPr/>
          <p:nvPr/>
        </p:nvSpPr>
        <p:spPr>
          <a:xfrm>
            <a:off x="157680" y="946800"/>
            <a:ext cx="1585080" cy="2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IN" sz="16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Block Diagram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18" name="" descr=""/>
          <p:cNvPicPr/>
          <p:nvPr/>
        </p:nvPicPr>
        <p:blipFill>
          <a:blip r:embed="rId1"/>
          <a:stretch/>
        </p:blipFill>
        <p:spPr>
          <a:xfrm>
            <a:off x="1608840" y="1414800"/>
            <a:ext cx="5876640" cy="2942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26;p12"/>
          <p:cNvSpPr/>
          <p:nvPr/>
        </p:nvSpPr>
        <p:spPr>
          <a:xfrm>
            <a:off x="1356480" y="324000"/>
            <a:ext cx="23400" cy="23400"/>
          </a:xfrm>
          <a:custGeom>
            <a:avLst/>
            <a:gdLst>
              <a:gd name="textAreaLeft" fmla="*/ 0 w 23400"/>
              <a:gd name="textAreaRight" fmla="*/ 25920 w 23400"/>
              <a:gd name="textAreaTop" fmla="*/ 0 h 23400"/>
              <a:gd name="textAreaBottom" fmla="*/ 25920 h 23400"/>
            </a:gdLst>
            <a:ahLst/>
            <a:rect l="textAreaLeft" t="textAreaTop" r="textAreaRight" b="textAreaBottom"/>
            <a:pathLst>
              <a:path w="56514" h="56515">
                <a:moveTo>
                  <a:pt x="28145" y="0"/>
                </a:moveTo>
                <a:lnTo>
                  <a:pt x="17201" y="2207"/>
                </a:lnTo>
                <a:lnTo>
                  <a:pt x="8253" y="8227"/>
                </a:lnTo>
                <a:lnTo>
                  <a:pt x="2215" y="17157"/>
                </a:lnTo>
                <a:lnTo>
                  <a:pt x="0" y="28093"/>
                </a:lnTo>
                <a:lnTo>
                  <a:pt x="2215" y="39037"/>
                </a:lnTo>
                <a:lnTo>
                  <a:pt x="8253" y="47985"/>
                </a:lnTo>
                <a:lnTo>
                  <a:pt x="17201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3" y="50280"/>
                </a:lnTo>
                <a:lnTo>
                  <a:pt x="11109" y="45113"/>
                </a:lnTo>
                <a:lnTo>
                  <a:pt x="5952" y="37457"/>
                </a:lnTo>
                <a:lnTo>
                  <a:pt x="4062" y="28093"/>
                </a:lnTo>
                <a:lnTo>
                  <a:pt x="5952" y="18722"/>
                </a:lnTo>
                <a:lnTo>
                  <a:pt x="11109" y="11052"/>
                </a:lnTo>
                <a:lnTo>
                  <a:pt x="18763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7" y="5870"/>
                </a:lnTo>
                <a:lnTo>
                  <a:pt x="45181" y="11052"/>
                </a:lnTo>
                <a:lnTo>
                  <a:pt x="50338" y="18722"/>
                </a:lnTo>
                <a:lnTo>
                  <a:pt x="52228" y="28093"/>
                </a:lnTo>
                <a:lnTo>
                  <a:pt x="50338" y="37457"/>
                </a:lnTo>
                <a:lnTo>
                  <a:pt x="45181" y="45113"/>
                </a:lnTo>
                <a:lnTo>
                  <a:pt x="37527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uFillTx/>
              <a:latin typeface="Arial"/>
              <a:ea typeface="Arial"/>
            </a:endParaRPr>
          </a:p>
        </p:txBody>
      </p:sp>
      <p:sp>
        <p:nvSpPr>
          <p:cNvPr id="120" name="Google Shape;127;p 2"/>
          <p:cNvSpPr/>
          <p:nvPr/>
        </p:nvSpPr>
        <p:spPr>
          <a:xfrm>
            <a:off x="1363680" y="329400"/>
            <a:ext cx="9000" cy="11880"/>
          </a:xfrm>
          <a:custGeom>
            <a:avLst/>
            <a:gdLst>
              <a:gd name="textAreaLeft" fmla="*/ 0 w 9000"/>
              <a:gd name="textAreaRight" fmla="*/ 11520 w 9000"/>
              <a:gd name="textAreaTop" fmla="*/ 0 h 11880"/>
              <a:gd name="textAreaBottom" fmla="*/ 14400 h 11880"/>
            </a:gdLst>
            <a:ahLst/>
            <a:rect l="textAreaLeft" t="textAreaTop" r="textAreaRight" b="textAreaBottom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39" y="5329"/>
                </a:lnTo>
                <a:lnTo>
                  <a:pt x="2188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37" y="18292"/>
                </a:lnTo>
                <a:lnTo>
                  <a:pt x="9727" y="18680"/>
                </a:lnTo>
                <a:lnTo>
                  <a:pt x="11465" y="19999"/>
                </a:lnTo>
                <a:lnTo>
                  <a:pt x="14470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39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4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26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39" y="5329"/>
                </a:lnTo>
                <a:close/>
              </a:path>
            </a:pathLst>
          </a:custGeom>
          <a:solidFill>
            <a:srgbClr val="231f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uFillTx/>
              <a:latin typeface="Arial"/>
              <a:ea typeface="Arial"/>
            </a:endParaRPr>
          </a:p>
        </p:txBody>
      </p:sp>
      <p:sp>
        <p:nvSpPr>
          <p:cNvPr id="121" name="Google Shape;130;p 2"/>
          <p:cNvSpPr/>
          <p:nvPr/>
        </p:nvSpPr>
        <p:spPr>
          <a:xfrm>
            <a:off x="2300040" y="334080"/>
            <a:ext cx="4123080" cy="2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IN" sz="36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System Design</a:t>
            </a:r>
            <a:endParaRPr b="0" lang="en-US" sz="3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22" name="" descr=""/>
          <p:cNvPicPr/>
          <p:nvPr/>
        </p:nvPicPr>
        <p:blipFill>
          <a:blip r:embed="rId1"/>
          <a:stretch/>
        </p:blipFill>
        <p:spPr>
          <a:xfrm>
            <a:off x="2538360" y="905760"/>
            <a:ext cx="5457960" cy="4109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3" name="Google Shape;119;p 2"/>
          <p:cNvSpPr/>
          <p:nvPr/>
        </p:nvSpPr>
        <p:spPr>
          <a:xfrm>
            <a:off x="428400" y="1236240"/>
            <a:ext cx="2109240" cy="2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IN" sz="16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Architecture Diagram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37;p13"/>
          <p:cNvSpPr/>
          <p:nvPr/>
        </p:nvSpPr>
        <p:spPr>
          <a:xfrm>
            <a:off x="1356480" y="324000"/>
            <a:ext cx="23400" cy="23400"/>
          </a:xfrm>
          <a:custGeom>
            <a:avLst/>
            <a:gdLst>
              <a:gd name="textAreaLeft" fmla="*/ 0 w 23400"/>
              <a:gd name="textAreaRight" fmla="*/ 25920 w 23400"/>
              <a:gd name="textAreaTop" fmla="*/ 0 h 23400"/>
              <a:gd name="textAreaBottom" fmla="*/ 25920 h 23400"/>
            </a:gdLst>
            <a:ahLst/>
            <a:rect l="textAreaLeft" t="textAreaTop" r="textAreaRight" b="textAreaBottom"/>
            <a:pathLst>
              <a:path w="56514" h="56515">
                <a:moveTo>
                  <a:pt x="28145" y="0"/>
                </a:moveTo>
                <a:lnTo>
                  <a:pt x="17201" y="2207"/>
                </a:lnTo>
                <a:lnTo>
                  <a:pt x="8253" y="8227"/>
                </a:lnTo>
                <a:lnTo>
                  <a:pt x="2215" y="17157"/>
                </a:lnTo>
                <a:lnTo>
                  <a:pt x="0" y="28093"/>
                </a:lnTo>
                <a:lnTo>
                  <a:pt x="2215" y="39037"/>
                </a:lnTo>
                <a:lnTo>
                  <a:pt x="8253" y="47985"/>
                </a:lnTo>
                <a:lnTo>
                  <a:pt x="17201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3" y="50280"/>
                </a:lnTo>
                <a:lnTo>
                  <a:pt x="11109" y="45113"/>
                </a:lnTo>
                <a:lnTo>
                  <a:pt x="5952" y="37457"/>
                </a:lnTo>
                <a:lnTo>
                  <a:pt x="4062" y="28093"/>
                </a:lnTo>
                <a:lnTo>
                  <a:pt x="5952" y="18722"/>
                </a:lnTo>
                <a:lnTo>
                  <a:pt x="11109" y="11052"/>
                </a:lnTo>
                <a:lnTo>
                  <a:pt x="18763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7" y="5870"/>
                </a:lnTo>
                <a:lnTo>
                  <a:pt x="45181" y="11052"/>
                </a:lnTo>
                <a:lnTo>
                  <a:pt x="50338" y="18722"/>
                </a:lnTo>
                <a:lnTo>
                  <a:pt x="52228" y="28093"/>
                </a:lnTo>
                <a:lnTo>
                  <a:pt x="50338" y="37457"/>
                </a:lnTo>
                <a:lnTo>
                  <a:pt x="45181" y="45113"/>
                </a:lnTo>
                <a:lnTo>
                  <a:pt x="37527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uFillTx/>
              <a:latin typeface="Arial"/>
              <a:ea typeface="Arial"/>
            </a:endParaRPr>
          </a:p>
        </p:txBody>
      </p:sp>
      <p:sp>
        <p:nvSpPr>
          <p:cNvPr id="125" name="Google Shape;138;p 2"/>
          <p:cNvSpPr/>
          <p:nvPr/>
        </p:nvSpPr>
        <p:spPr>
          <a:xfrm>
            <a:off x="1363680" y="329400"/>
            <a:ext cx="9000" cy="11880"/>
          </a:xfrm>
          <a:custGeom>
            <a:avLst/>
            <a:gdLst>
              <a:gd name="textAreaLeft" fmla="*/ 0 w 9000"/>
              <a:gd name="textAreaRight" fmla="*/ 11520 w 9000"/>
              <a:gd name="textAreaTop" fmla="*/ 0 h 11880"/>
              <a:gd name="textAreaBottom" fmla="*/ 14400 h 11880"/>
            </a:gdLst>
            <a:ahLst/>
            <a:rect l="textAreaLeft" t="textAreaTop" r="textAreaRight" b="textAreaBottom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39" y="5329"/>
                </a:lnTo>
                <a:lnTo>
                  <a:pt x="2188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37" y="18292"/>
                </a:lnTo>
                <a:lnTo>
                  <a:pt x="9727" y="18680"/>
                </a:lnTo>
                <a:lnTo>
                  <a:pt x="11465" y="19999"/>
                </a:lnTo>
                <a:lnTo>
                  <a:pt x="14470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39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4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26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39" y="5329"/>
                </a:lnTo>
                <a:close/>
              </a:path>
            </a:pathLst>
          </a:custGeom>
          <a:solidFill>
            <a:srgbClr val="231f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uFillTx/>
              <a:latin typeface="Arial"/>
              <a:ea typeface="Arial"/>
            </a:endParaRPr>
          </a:p>
        </p:txBody>
      </p:sp>
      <p:sp>
        <p:nvSpPr>
          <p:cNvPr id="126" name="Google Shape;141;p 2"/>
          <p:cNvSpPr/>
          <p:nvPr/>
        </p:nvSpPr>
        <p:spPr>
          <a:xfrm>
            <a:off x="2300040" y="366120"/>
            <a:ext cx="4123080" cy="2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IN" sz="36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Detailed Design</a:t>
            </a:r>
            <a:endParaRPr b="0" lang="en-US" sz="3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7" name=""/>
          <p:cNvSpPr/>
          <p:nvPr/>
        </p:nvSpPr>
        <p:spPr>
          <a:xfrm>
            <a:off x="676800" y="933840"/>
            <a:ext cx="1962000" cy="29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600" strike="noStrike" u="none">
                <a:solidFill>
                  <a:srgbClr val="000000"/>
                </a:solidFill>
                <a:uFillTx/>
                <a:latin typeface="Arial"/>
              </a:rPr>
              <a:t>Use Case Diagram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28" name="" descr=""/>
          <p:cNvPicPr/>
          <p:nvPr/>
        </p:nvPicPr>
        <p:blipFill>
          <a:blip r:embed="rId1"/>
          <a:stretch/>
        </p:blipFill>
        <p:spPr>
          <a:xfrm>
            <a:off x="2385000" y="1209600"/>
            <a:ext cx="4441320" cy="3264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" descr=""/>
          <p:cNvPicPr/>
          <p:nvPr/>
        </p:nvPicPr>
        <p:blipFill>
          <a:blip r:embed="rId1"/>
          <a:stretch/>
        </p:blipFill>
        <p:spPr>
          <a:xfrm>
            <a:off x="2220120" y="0"/>
            <a:ext cx="4884840" cy="5142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0" name=""/>
          <p:cNvSpPr/>
          <p:nvPr/>
        </p:nvSpPr>
        <p:spPr>
          <a:xfrm>
            <a:off x="298800" y="933840"/>
            <a:ext cx="2116440" cy="37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600" strike="noStrike" u="none">
                <a:solidFill>
                  <a:srgbClr val="000000"/>
                </a:solidFill>
                <a:uFillTx/>
                <a:latin typeface="Arial"/>
              </a:rPr>
              <a:t>Sequence Diagram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7;p 1"/>
          <p:cNvSpPr/>
          <p:nvPr/>
        </p:nvSpPr>
        <p:spPr>
          <a:xfrm>
            <a:off x="1356480" y="324000"/>
            <a:ext cx="23400" cy="23400"/>
          </a:xfrm>
          <a:custGeom>
            <a:avLst/>
            <a:gdLst>
              <a:gd name="textAreaLeft" fmla="*/ 0 w 23400"/>
              <a:gd name="textAreaRight" fmla="*/ 25920 w 23400"/>
              <a:gd name="textAreaTop" fmla="*/ 0 h 23400"/>
              <a:gd name="textAreaBottom" fmla="*/ 25920 h 23400"/>
            </a:gdLst>
            <a:ahLst/>
            <a:rect l="textAreaLeft" t="textAreaTop" r="textAreaRight" b="textAreaBottom"/>
            <a:pathLst>
              <a:path w="56514" h="56515">
                <a:moveTo>
                  <a:pt x="28145" y="0"/>
                </a:moveTo>
                <a:lnTo>
                  <a:pt x="17201" y="2207"/>
                </a:lnTo>
                <a:lnTo>
                  <a:pt x="8253" y="8227"/>
                </a:lnTo>
                <a:lnTo>
                  <a:pt x="2215" y="17157"/>
                </a:lnTo>
                <a:lnTo>
                  <a:pt x="0" y="28093"/>
                </a:lnTo>
                <a:lnTo>
                  <a:pt x="2215" y="39037"/>
                </a:lnTo>
                <a:lnTo>
                  <a:pt x="8253" y="47985"/>
                </a:lnTo>
                <a:lnTo>
                  <a:pt x="17201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3" y="50280"/>
                </a:lnTo>
                <a:lnTo>
                  <a:pt x="11109" y="45113"/>
                </a:lnTo>
                <a:lnTo>
                  <a:pt x="5952" y="37457"/>
                </a:lnTo>
                <a:lnTo>
                  <a:pt x="4062" y="28093"/>
                </a:lnTo>
                <a:lnTo>
                  <a:pt x="5952" y="18722"/>
                </a:lnTo>
                <a:lnTo>
                  <a:pt x="11109" y="11052"/>
                </a:lnTo>
                <a:lnTo>
                  <a:pt x="18763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7" y="5870"/>
                </a:lnTo>
                <a:lnTo>
                  <a:pt x="45181" y="11052"/>
                </a:lnTo>
                <a:lnTo>
                  <a:pt x="50338" y="18722"/>
                </a:lnTo>
                <a:lnTo>
                  <a:pt x="52228" y="28093"/>
                </a:lnTo>
                <a:lnTo>
                  <a:pt x="50338" y="37457"/>
                </a:lnTo>
                <a:lnTo>
                  <a:pt x="45181" y="45113"/>
                </a:lnTo>
                <a:lnTo>
                  <a:pt x="37527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uFillTx/>
              <a:latin typeface="Arial"/>
              <a:ea typeface="Arial"/>
            </a:endParaRPr>
          </a:p>
        </p:txBody>
      </p:sp>
      <p:sp>
        <p:nvSpPr>
          <p:cNvPr id="132" name="Google Shape;138;p 1"/>
          <p:cNvSpPr/>
          <p:nvPr/>
        </p:nvSpPr>
        <p:spPr>
          <a:xfrm>
            <a:off x="1363680" y="329400"/>
            <a:ext cx="9000" cy="11880"/>
          </a:xfrm>
          <a:custGeom>
            <a:avLst/>
            <a:gdLst>
              <a:gd name="textAreaLeft" fmla="*/ 0 w 9000"/>
              <a:gd name="textAreaRight" fmla="*/ 11520 w 9000"/>
              <a:gd name="textAreaTop" fmla="*/ 0 h 11880"/>
              <a:gd name="textAreaBottom" fmla="*/ 14400 h 11880"/>
            </a:gdLst>
            <a:ahLst/>
            <a:rect l="textAreaLeft" t="textAreaTop" r="textAreaRight" b="textAreaBottom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39" y="5329"/>
                </a:lnTo>
                <a:lnTo>
                  <a:pt x="2188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37" y="18292"/>
                </a:lnTo>
                <a:lnTo>
                  <a:pt x="9727" y="18680"/>
                </a:lnTo>
                <a:lnTo>
                  <a:pt x="11465" y="19999"/>
                </a:lnTo>
                <a:lnTo>
                  <a:pt x="14470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39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4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26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39" y="5329"/>
                </a:lnTo>
                <a:close/>
              </a:path>
            </a:pathLst>
          </a:custGeom>
          <a:solidFill>
            <a:srgbClr val="231f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uFillTx/>
              <a:latin typeface="Arial"/>
              <a:ea typeface="Arial"/>
            </a:endParaRPr>
          </a:p>
        </p:txBody>
      </p:sp>
      <p:pic>
        <p:nvPicPr>
          <p:cNvPr id="133" name="" descr=""/>
          <p:cNvPicPr/>
          <p:nvPr/>
        </p:nvPicPr>
        <p:blipFill>
          <a:blip r:embed="rId1"/>
          <a:stretch/>
        </p:blipFill>
        <p:spPr>
          <a:xfrm>
            <a:off x="2687040" y="0"/>
            <a:ext cx="3835800" cy="5142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4" name=""/>
          <p:cNvSpPr/>
          <p:nvPr/>
        </p:nvSpPr>
        <p:spPr>
          <a:xfrm>
            <a:off x="812160" y="934200"/>
            <a:ext cx="1603080" cy="37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600" strike="noStrike" u="none">
                <a:solidFill>
                  <a:srgbClr val="000000"/>
                </a:solidFill>
                <a:uFillTx/>
                <a:latin typeface="Arial"/>
              </a:rPr>
              <a:t>Class Diagram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41;p 1"/>
          <p:cNvSpPr/>
          <p:nvPr/>
        </p:nvSpPr>
        <p:spPr>
          <a:xfrm>
            <a:off x="2300040" y="138600"/>
            <a:ext cx="4123080" cy="2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IN" sz="36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Detailed Design</a:t>
            </a:r>
            <a:endParaRPr b="0" lang="en-US" sz="3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6" name=""/>
          <p:cNvSpPr/>
          <p:nvPr/>
        </p:nvSpPr>
        <p:spPr>
          <a:xfrm>
            <a:off x="812160" y="934200"/>
            <a:ext cx="1980000" cy="37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600" strike="noStrike" u="none">
                <a:solidFill>
                  <a:srgbClr val="000000"/>
                </a:solidFill>
                <a:uFillTx/>
                <a:latin typeface="Arial"/>
              </a:rPr>
              <a:t>Activity Diagram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37" name="" descr=""/>
          <p:cNvPicPr/>
          <p:nvPr/>
        </p:nvPicPr>
        <p:blipFill>
          <a:blip r:embed="rId1"/>
          <a:stretch/>
        </p:blipFill>
        <p:spPr>
          <a:xfrm>
            <a:off x="2637360" y="593280"/>
            <a:ext cx="3053880" cy="4346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47;g3616559daea_0_0"/>
          <p:cNvSpPr/>
          <p:nvPr/>
        </p:nvSpPr>
        <p:spPr>
          <a:xfrm>
            <a:off x="1356480" y="324000"/>
            <a:ext cx="23400" cy="23400"/>
          </a:xfrm>
          <a:custGeom>
            <a:avLst/>
            <a:gdLst>
              <a:gd name="textAreaLeft" fmla="*/ 0 w 23400"/>
              <a:gd name="textAreaRight" fmla="*/ 25920 w 23400"/>
              <a:gd name="textAreaTop" fmla="*/ 0 h 23400"/>
              <a:gd name="textAreaBottom" fmla="*/ 25920 h 23400"/>
            </a:gdLst>
            <a:ahLst/>
            <a:rect l="textAreaLeft" t="textAreaTop" r="textAreaRight" b="textAreaBottom"/>
            <a:pathLst>
              <a:path w="56514" h="56515">
                <a:moveTo>
                  <a:pt x="28145" y="0"/>
                </a:moveTo>
                <a:lnTo>
                  <a:pt x="17201" y="2207"/>
                </a:lnTo>
                <a:lnTo>
                  <a:pt x="8253" y="8227"/>
                </a:lnTo>
                <a:lnTo>
                  <a:pt x="2215" y="17157"/>
                </a:lnTo>
                <a:lnTo>
                  <a:pt x="0" y="28093"/>
                </a:lnTo>
                <a:lnTo>
                  <a:pt x="2215" y="39037"/>
                </a:lnTo>
                <a:lnTo>
                  <a:pt x="8253" y="47985"/>
                </a:lnTo>
                <a:lnTo>
                  <a:pt x="17201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3" y="50280"/>
                </a:lnTo>
                <a:lnTo>
                  <a:pt x="11109" y="45113"/>
                </a:lnTo>
                <a:lnTo>
                  <a:pt x="5952" y="37457"/>
                </a:lnTo>
                <a:lnTo>
                  <a:pt x="4062" y="28093"/>
                </a:lnTo>
                <a:lnTo>
                  <a:pt x="5952" y="18722"/>
                </a:lnTo>
                <a:lnTo>
                  <a:pt x="11109" y="11052"/>
                </a:lnTo>
                <a:lnTo>
                  <a:pt x="18763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7" y="5870"/>
                </a:lnTo>
                <a:lnTo>
                  <a:pt x="45181" y="11052"/>
                </a:lnTo>
                <a:lnTo>
                  <a:pt x="50338" y="18722"/>
                </a:lnTo>
                <a:lnTo>
                  <a:pt x="52228" y="28093"/>
                </a:lnTo>
                <a:lnTo>
                  <a:pt x="50338" y="37457"/>
                </a:lnTo>
                <a:lnTo>
                  <a:pt x="45181" y="45113"/>
                </a:lnTo>
                <a:lnTo>
                  <a:pt x="37527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uFillTx/>
              <a:latin typeface="Arial"/>
              <a:ea typeface="Arial"/>
            </a:endParaRPr>
          </a:p>
        </p:txBody>
      </p:sp>
      <p:sp>
        <p:nvSpPr>
          <p:cNvPr id="139" name="Google Shape;148;g3616559daea_0_ 2"/>
          <p:cNvSpPr/>
          <p:nvPr/>
        </p:nvSpPr>
        <p:spPr>
          <a:xfrm>
            <a:off x="1363680" y="329400"/>
            <a:ext cx="9000" cy="11880"/>
          </a:xfrm>
          <a:custGeom>
            <a:avLst/>
            <a:gdLst>
              <a:gd name="textAreaLeft" fmla="*/ 0 w 9000"/>
              <a:gd name="textAreaRight" fmla="*/ 11520 w 9000"/>
              <a:gd name="textAreaTop" fmla="*/ 0 h 11880"/>
              <a:gd name="textAreaBottom" fmla="*/ 14400 h 11880"/>
            </a:gdLst>
            <a:ahLst/>
            <a:rect l="textAreaLeft" t="textAreaTop" r="textAreaRight" b="textAreaBottom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39" y="5329"/>
                </a:lnTo>
                <a:lnTo>
                  <a:pt x="2188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37" y="18292"/>
                </a:lnTo>
                <a:lnTo>
                  <a:pt x="9727" y="18680"/>
                </a:lnTo>
                <a:lnTo>
                  <a:pt x="11465" y="19999"/>
                </a:lnTo>
                <a:lnTo>
                  <a:pt x="14470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39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4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26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39" y="5329"/>
                </a:lnTo>
                <a:close/>
              </a:path>
            </a:pathLst>
          </a:custGeom>
          <a:solidFill>
            <a:srgbClr val="231f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uFillTx/>
              <a:latin typeface="Arial"/>
              <a:ea typeface="Arial"/>
            </a:endParaRPr>
          </a:p>
        </p:txBody>
      </p:sp>
      <p:sp>
        <p:nvSpPr>
          <p:cNvPr id="140" name="PlaceHolder 1"/>
          <p:cNvSpPr>
            <a:spLocks noGrp="1"/>
          </p:cNvSpPr>
          <p:nvPr>
            <p:ph type="sldNum" idx="21"/>
          </p:nvPr>
        </p:nvSpPr>
        <p:spPr>
          <a:xfrm>
            <a:off x="8472240" y="4663080"/>
            <a:ext cx="545760" cy="39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77500" lnSpcReduction="19999"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22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6ED5585-D5E7-4156-822E-72261B3D7BAA}" type="slidenum">
              <a:rPr b="0" lang="en-IN" sz="22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2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41" name="Google Shape;151;g3616559daea_0_ 2"/>
          <p:cNvSpPr/>
          <p:nvPr/>
        </p:nvSpPr>
        <p:spPr>
          <a:xfrm>
            <a:off x="2300040" y="131760"/>
            <a:ext cx="4123440" cy="28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IN" sz="36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Detailed Design</a:t>
            </a:r>
            <a:endParaRPr b="0" lang="en-US" sz="3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2" name=""/>
          <p:cNvSpPr/>
          <p:nvPr/>
        </p:nvSpPr>
        <p:spPr>
          <a:xfrm>
            <a:off x="3935160" y="4175280"/>
            <a:ext cx="127332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600" strike="noStrike" u="none">
                <a:solidFill>
                  <a:srgbClr val="000000"/>
                </a:solidFill>
                <a:uFillTx/>
                <a:latin typeface="Times New Roman"/>
              </a:rPr>
              <a:t>Level 0 DFD 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43" name="" descr=""/>
          <p:cNvPicPr/>
          <p:nvPr/>
        </p:nvPicPr>
        <p:blipFill>
          <a:blip r:embed="rId1"/>
          <a:stretch/>
        </p:blipFill>
        <p:spPr>
          <a:xfrm>
            <a:off x="1752480" y="1265400"/>
            <a:ext cx="5426640" cy="2606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51;g3616559daea_0_ 1"/>
          <p:cNvSpPr/>
          <p:nvPr/>
        </p:nvSpPr>
        <p:spPr>
          <a:xfrm>
            <a:off x="2300040" y="138240"/>
            <a:ext cx="4123440" cy="28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IN" sz="36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Detailed Design</a:t>
            </a:r>
            <a:endParaRPr b="0" lang="en-US" sz="3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5" name=""/>
          <p:cNvSpPr/>
          <p:nvPr/>
        </p:nvSpPr>
        <p:spPr>
          <a:xfrm>
            <a:off x="4025520" y="4696560"/>
            <a:ext cx="134172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600" strike="noStrike" u="none">
                <a:solidFill>
                  <a:srgbClr val="000000"/>
                </a:solidFill>
                <a:uFillTx/>
                <a:latin typeface="Times New Roman"/>
              </a:rPr>
              <a:t>Level 1 DFD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46" name="" descr=""/>
          <p:cNvPicPr/>
          <p:nvPr/>
        </p:nvPicPr>
        <p:blipFill>
          <a:blip r:embed="rId1"/>
          <a:stretch/>
        </p:blipFill>
        <p:spPr>
          <a:xfrm>
            <a:off x="2188440" y="602280"/>
            <a:ext cx="4653000" cy="4033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51;g3616559daea_0_ 3"/>
          <p:cNvSpPr/>
          <p:nvPr/>
        </p:nvSpPr>
        <p:spPr>
          <a:xfrm>
            <a:off x="2300040" y="138240"/>
            <a:ext cx="4123440" cy="28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IN" sz="36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Detailed Design</a:t>
            </a:r>
            <a:endParaRPr b="0" lang="en-US" sz="3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8" name=""/>
          <p:cNvSpPr/>
          <p:nvPr/>
        </p:nvSpPr>
        <p:spPr>
          <a:xfrm>
            <a:off x="4066200" y="4236480"/>
            <a:ext cx="147060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600" strike="noStrike" u="none">
                <a:solidFill>
                  <a:srgbClr val="000000"/>
                </a:solidFill>
                <a:uFillTx/>
                <a:latin typeface="Times New Roman"/>
              </a:rPr>
              <a:t>Level 2 DFD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49" name="" descr=""/>
          <p:cNvPicPr/>
          <p:nvPr/>
        </p:nvPicPr>
        <p:blipFill>
          <a:blip r:embed="rId1"/>
          <a:stretch/>
        </p:blipFill>
        <p:spPr>
          <a:xfrm>
            <a:off x="628560" y="1074240"/>
            <a:ext cx="4054320" cy="2827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0" name="" descr=""/>
          <p:cNvPicPr/>
          <p:nvPr/>
        </p:nvPicPr>
        <p:blipFill>
          <a:blip r:embed="rId2"/>
          <a:stretch/>
        </p:blipFill>
        <p:spPr>
          <a:xfrm>
            <a:off x="4948200" y="1501560"/>
            <a:ext cx="3879720" cy="1800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214;p 1"/>
          <p:cNvSpPr/>
          <p:nvPr/>
        </p:nvSpPr>
        <p:spPr>
          <a:xfrm>
            <a:off x="1356480" y="324000"/>
            <a:ext cx="25920" cy="25920"/>
          </a:xfrm>
          <a:custGeom>
            <a:avLst/>
            <a:gdLst>
              <a:gd name="textAreaLeft" fmla="*/ 0 w 25920"/>
              <a:gd name="textAreaRight" fmla="*/ 26280 w 25920"/>
              <a:gd name="textAreaTop" fmla="*/ 0 h 25920"/>
              <a:gd name="textAreaBottom" fmla="*/ 26280 h 25920"/>
            </a:gdLst>
            <a:ahLst/>
            <a:rect l="textAreaLeft" t="textAreaTop" r="textAreaRight" b="textAreaBottom"/>
            <a:pathLst>
              <a:path w="56514" h="56515">
                <a:moveTo>
                  <a:pt x="28145" y="0"/>
                </a:moveTo>
                <a:lnTo>
                  <a:pt x="17201" y="2207"/>
                </a:lnTo>
                <a:lnTo>
                  <a:pt x="8253" y="8227"/>
                </a:lnTo>
                <a:lnTo>
                  <a:pt x="2215" y="17157"/>
                </a:lnTo>
                <a:lnTo>
                  <a:pt x="0" y="28093"/>
                </a:lnTo>
                <a:lnTo>
                  <a:pt x="2215" y="39037"/>
                </a:lnTo>
                <a:lnTo>
                  <a:pt x="8253" y="47985"/>
                </a:lnTo>
                <a:lnTo>
                  <a:pt x="17201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3" y="50280"/>
                </a:lnTo>
                <a:lnTo>
                  <a:pt x="11109" y="45113"/>
                </a:lnTo>
                <a:lnTo>
                  <a:pt x="5952" y="37457"/>
                </a:lnTo>
                <a:lnTo>
                  <a:pt x="4062" y="28093"/>
                </a:lnTo>
                <a:lnTo>
                  <a:pt x="5952" y="18722"/>
                </a:lnTo>
                <a:lnTo>
                  <a:pt x="11109" y="11052"/>
                </a:lnTo>
                <a:lnTo>
                  <a:pt x="18763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7" y="5870"/>
                </a:lnTo>
                <a:lnTo>
                  <a:pt x="45181" y="11052"/>
                </a:lnTo>
                <a:lnTo>
                  <a:pt x="50338" y="18722"/>
                </a:lnTo>
                <a:lnTo>
                  <a:pt x="52228" y="28093"/>
                </a:lnTo>
                <a:lnTo>
                  <a:pt x="50338" y="37457"/>
                </a:lnTo>
                <a:lnTo>
                  <a:pt x="45181" y="45113"/>
                </a:lnTo>
                <a:lnTo>
                  <a:pt x="37527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chemeClr val="dk1"/>
              </a:solidFill>
              <a:uFillTx/>
              <a:latin typeface="Arial"/>
              <a:ea typeface="Arial"/>
            </a:endParaRPr>
          </a:p>
        </p:txBody>
      </p:sp>
      <p:sp>
        <p:nvSpPr>
          <p:cNvPr id="152" name="Google Shape;215;p 2"/>
          <p:cNvSpPr/>
          <p:nvPr/>
        </p:nvSpPr>
        <p:spPr>
          <a:xfrm>
            <a:off x="1363680" y="329400"/>
            <a:ext cx="11520" cy="14400"/>
          </a:xfrm>
          <a:custGeom>
            <a:avLst/>
            <a:gdLst>
              <a:gd name="textAreaLeft" fmla="*/ 0 w 11520"/>
              <a:gd name="textAreaRight" fmla="*/ 11880 w 11520"/>
              <a:gd name="textAreaTop" fmla="*/ 0 h 14400"/>
              <a:gd name="textAreaBottom" fmla="*/ 14760 h 14400"/>
            </a:gdLst>
            <a:ahLst/>
            <a:rect l="textAreaLeft" t="textAreaTop" r="textAreaRight" b="textAreaBottom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39" y="5329"/>
                </a:lnTo>
                <a:lnTo>
                  <a:pt x="2188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37" y="18292"/>
                </a:lnTo>
                <a:lnTo>
                  <a:pt x="9727" y="18680"/>
                </a:lnTo>
                <a:lnTo>
                  <a:pt x="11465" y="19999"/>
                </a:lnTo>
                <a:lnTo>
                  <a:pt x="14470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39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4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26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39" y="5329"/>
                </a:lnTo>
                <a:close/>
              </a:path>
            </a:pathLst>
          </a:custGeom>
          <a:solidFill>
            <a:srgbClr val="231f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chemeClr val="dk1"/>
              </a:solidFill>
              <a:uFillTx/>
              <a:latin typeface="Arial"/>
              <a:ea typeface="Arial"/>
            </a:endParaRPr>
          </a:p>
        </p:txBody>
      </p:sp>
      <p:sp>
        <p:nvSpPr>
          <p:cNvPr id="153" name="Google Shape;218;p 2"/>
          <p:cNvSpPr/>
          <p:nvPr/>
        </p:nvSpPr>
        <p:spPr>
          <a:xfrm>
            <a:off x="2300040" y="311400"/>
            <a:ext cx="412560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IN" sz="28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Screen shots of Results  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54" name="" descr=""/>
          <p:cNvPicPr/>
          <p:nvPr/>
        </p:nvPicPr>
        <p:blipFill>
          <a:blip r:embed="rId1"/>
          <a:stretch/>
        </p:blipFill>
        <p:spPr>
          <a:xfrm>
            <a:off x="504360" y="951840"/>
            <a:ext cx="7629840" cy="3711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214;p 2"/>
          <p:cNvSpPr/>
          <p:nvPr/>
        </p:nvSpPr>
        <p:spPr>
          <a:xfrm>
            <a:off x="1356480" y="324000"/>
            <a:ext cx="25920" cy="25920"/>
          </a:xfrm>
          <a:custGeom>
            <a:avLst/>
            <a:gdLst>
              <a:gd name="textAreaLeft" fmla="*/ 0 w 25920"/>
              <a:gd name="textAreaRight" fmla="*/ 26280 w 25920"/>
              <a:gd name="textAreaTop" fmla="*/ 0 h 25920"/>
              <a:gd name="textAreaBottom" fmla="*/ 26280 h 25920"/>
            </a:gdLst>
            <a:ahLst/>
            <a:rect l="textAreaLeft" t="textAreaTop" r="textAreaRight" b="textAreaBottom"/>
            <a:pathLst>
              <a:path w="56514" h="56515">
                <a:moveTo>
                  <a:pt x="28145" y="0"/>
                </a:moveTo>
                <a:lnTo>
                  <a:pt x="17201" y="2207"/>
                </a:lnTo>
                <a:lnTo>
                  <a:pt x="8253" y="8227"/>
                </a:lnTo>
                <a:lnTo>
                  <a:pt x="2215" y="17157"/>
                </a:lnTo>
                <a:lnTo>
                  <a:pt x="0" y="28093"/>
                </a:lnTo>
                <a:lnTo>
                  <a:pt x="2215" y="39037"/>
                </a:lnTo>
                <a:lnTo>
                  <a:pt x="8253" y="47985"/>
                </a:lnTo>
                <a:lnTo>
                  <a:pt x="17201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3" y="50280"/>
                </a:lnTo>
                <a:lnTo>
                  <a:pt x="11109" y="45113"/>
                </a:lnTo>
                <a:lnTo>
                  <a:pt x="5952" y="37457"/>
                </a:lnTo>
                <a:lnTo>
                  <a:pt x="4062" y="28093"/>
                </a:lnTo>
                <a:lnTo>
                  <a:pt x="5952" y="18722"/>
                </a:lnTo>
                <a:lnTo>
                  <a:pt x="11109" y="11052"/>
                </a:lnTo>
                <a:lnTo>
                  <a:pt x="18763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7" y="5870"/>
                </a:lnTo>
                <a:lnTo>
                  <a:pt x="45181" y="11052"/>
                </a:lnTo>
                <a:lnTo>
                  <a:pt x="50338" y="18722"/>
                </a:lnTo>
                <a:lnTo>
                  <a:pt x="52228" y="28093"/>
                </a:lnTo>
                <a:lnTo>
                  <a:pt x="50338" y="37457"/>
                </a:lnTo>
                <a:lnTo>
                  <a:pt x="45181" y="45113"/>
                </a:lnTo>
                <a:lnTo>
                  <a:pt x="37527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chemeClr val="dk1"/>
              </a:solidFill>
              <a:uFillTx/>
              <a:latin typeface="Arial"/>
              <a:ea typeface="Arial"/>
            </a:endParaRPr>
          </a:p>
        </p:txBody>
      </p:sp>
      <p:sp>
        <p:nvSpPr>
          <p:cNvPr id="156" name="Google Shape;215;p 1"/>
          <p:cNvSpPr/>
          <p:nvPr/>
        </p:nvSpPr>
        <p:spPr>
          <a:xfrm>
            <a:off x="1363680" y="329400"/>
            <a:ext cx="11520" cy="14400"/>
          </a:xfrm>
          <a:custGeom>
            <a:avLst/>
            <a:gdLst>
              <a:gd name="textAreaLeft" fmla="*/ 0 w 11520"/>
              <a:gd name="textAreaRight" fmla="*/ 11880 w 11520"/>
              <a:gd name="textAreaTop" fmla="*/ 0 h 14400"/>
              <a:gd name="textAreaBottom" fmla="*/ 14760 h 14400"/>
            </a:gdLst>
            <a:ahLst/>
            <a:rect l="textAreaLeft" t="textAreaTop" r="textAreaRight" b="textAreaBottom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39" y="5329"/>
                </a:lnTo>
                <a:lnTo>
                  <a:pt x="2188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37" y="18292"/>
                </a:lnTo>
                <a:lnTo>
                  <a:pt x="9727" y="18680"/>
                </a:lnTo>
                <a:lnTo>
                  <a:pt x="11465" y="19999"/>
                </a:lnTo>
                <a:lnTo>
                  <a:pt x="14470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39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4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26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39" y="5329"/>
                </a:lnTo>
                <a:close/>
              </a:path>
            </a:pathLst>
          </a:custGeom>
          <a:solidFill>
            <a:srgbClr val="231f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chemeClr val="dk1"/>
              </a:solidFill>
              <a:uFillTx/>
              <a:latin typeface="Arial"/>
              <a:ea typeface="Arial"/>
            </a:endParaRPr>
          </a:p>
        </p:txBody>
      </p:sp>
      <p:sp>
        <p:nvSpPr>
          <p:cNvPr id="157" name="Google Shape;218;p 1"/>
          <p:cNvSpPr/>
          <p:nvPr/>
        </p:nvSpPr>
        <p:spPr>
          <a:xfrm>
            <a:off x="2300040" y="131760"/>
            <a:ext cx="412560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IN" sz="28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Screenshots of Results  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58" name="" descr=""/>
          <p:cNvPicPr/>
          <p:nvPr/>
        </p:nvPicPr>
        <p:blipFill>
          <a:blip r:embed="rId1"/>
          <a:stretch/>
        </p:blipFill>
        <p:spPr>
          <a:xfrm>
            <a:off x="782280" y="961920"/>
            <a:ext cx="7630920" cy="3711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214;p 3"/>
          <p:cNvSpPr/>
          <p:nvPr/>
        </p:nvSpPr>
        <p:spPr>
          <a:xfrm>
            <a:off x="1356480" y="324000"/>
            <a:ext cx="25920" cy="25920"/>
          </a:xfrm>
          <a:custGeom>
            <a:avLst/>
            <a:gdLst>
              <a:gd name="textAreaLeft" fmla="*/ 0 w 25920"/>
              <a:gd name="textAreaRight" fmla="*/ 26280 w 25920"/>
              <a:gd name="textAreaTop" fmla="*/ 0 h 25920"/>
              <a:gd name="textAreaBottom" fmla="*/ 26280 h 25920"/>
            </a:gdLst>
            <a:ahLst/>
            <a:rect l="textAreaLeft" t="textAreaTop" r="textAreaRight" b="textAreaBottom"/>
            <a:pathLst>
              <a:path w="56514" h="56515">
                <a:moveTo>
                  <a:pt x="28145" y="0"/>
                </a:moveTo>
                <a:lnTo>
                  <a:pt x="17201" y="2207"/>
                </a:lnTo>
                <a:lnTo>
                  <a:pt x="8253" y="8227"/>
                </a:lnTo>
                <a:lnTo>
                  <a:pt x="2215" y="17157"/>
                </a:lnTo>
                <a:lnTo>
                  <a:pt x="0" y="28093"/>
                </a:lnTo>
                <a:lnTo>
                  <a:pt x="2215" y="39037"/>
                </a:lnTo>
                <a:lnTo>
                  <a:pt x="8253" y="47985"/>
                </a:lnTo>
                <a:lnTo>
                  <a:pt x="17201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3" y="50280"/>
                </a:lnTo>
                <a:lnTo>
                  <a:pt x="11109" y="45113"/>
                </a:lnTo>
                <a:lnTo>
                  <a:pt x="5952" y="37457"/>
                </a:lnTo>
                <a:lnTo>
                  <a:pt x="4062" y="28093"/>
                </a:lnTo>
                <a:lnTo>
                  <a:pt x="5952" y="18722"/>
                </a:lnTo>
                <a:lnTo>
                  <a:pt x="11109" y="11052"/>
                </a:lnTo>
                <a:lnTo>
                  <a:pt x="18763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7" y="5870"/>
                </a:lnTo>
                <a:lnTo>
                  <a:pt x="45181" y="11052"/>
                </a:lnTo>
                <a:lnTo>
                  <a:pt x="50338" y="18722"/>
                </a:lnTo>
                <a:lnTo>
                  <a:pt x="52228" y="28093"/>
                </a:lnTo>
                <a:lnTo>
                  <a:pt x="50338" y="37457"/>
                </a:lnTo>
                <a:lnTo>
                  <a:pt x="45181" y="45113"/>
                </a:lnTo>
                <a:lnTo>
                  <a:pt x="37527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chemeClr val="dk1"/>
              </a:solidFill>
              <a:uFillTx/>
              <a:latin typeface="Arial"/>
              <a:ea typeface="Arial"/>
            </a:endParaRPr>
          </a:p>
        </p:txBody>
      </p:sp>
      <p:sp>
        <p:nvSpPr>
          <p:cNvPr id="160" name="Google Shape;215;p 4"/>
          <p:cNvSpPr/>
          <p:nvPr/>
        </p:nvSpPr>
        <p:spPr>
          <a:xfrm>
            <a:off x="1363680" y="329400"/>
            <a:ext cx="11520" cy="14400"/>
          </a:xfrm>
          <a:custGeom>
            <a:avLst/>
            <a:gdLst>
              <a:gd name="textAreaLeft" fmla="*/ 0 w 11520"/>
              <a:gd name="textAreaRight" fmla="*/ 11880 w 11520"/>
              <a:gd name="textAreaTop" fmla="*/ 0 h 14400"/>
              <a:gd name="textAreaBottom" fmla="*/ 14760 h 14400"/>
            </a:gdLst>
            <a:ahLst/>
            <a:rect l="textAreaLeft" t="textAreaTop" r="textAreaRight" b="textAreaBottom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39" y="5329"/>
                </a:lnTo>
                <a:lnTo>
                  <a:pt x="2188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37" y="18292"/>
                </a:lnTo>
                <a:lnTo>
                  <a:pt x="9727" y="18680"/>
                </a:lnTo>
                <a:lnTo>
                  <a:pt x="11465" y="19999"/>
                </a:lnTo>
                <a:lnTo>
                  <a:pt x="14470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39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4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26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39" y="5329"/>
                </a:lnTo>
                <a:close/>
              </a:path>
            </a:pathLst>
          </a:custGeom>
          <a:solidFill>
            <a:srgbClr val="231f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chemeClr val="dk1"/>
              </a:solidFill>
              <a:uFillTx/>
              <a:latin typeface="Arial"/>
              <a:ea typeface="Arial"/>
            </a:endParaRPr>
          </a:p>
        </p:txBody>
      </p:sp>
      <p:sp>
        <p:nvSpPr>
          <p:cNvPr id="161" name="Google Shape;218;p 4"/>
          <p:cNvSpPr/>
          <p:nvPr/>
        </p:nvSpPr>
        <p:spPr>
          <a:xfrm>
            <a:off x="2300040" y="131760"/>
            <a:ext cx="412560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IN" sz="28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Screensho</a:t>
            </a:r>
            <a:r>
              <a:rPr b="0" lang="en-IN" sz="28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ts of </a:t>
            </a:r>
            <a:r>
              <a:rPr b="0" lang="en-IN" sz="28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Results  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62" name="" descr=""/>
          <p:cNvPicPr/>
          <p:nvPr/>
        </p:nvPicPr>
        <p:blipFill>
          <a:blip r:embed="rId1"/>
          <a:stretch/>
        </p:blipFill>
        <p:spPr>
          <a:xfrm>
            <a:off x="659520" y="921600"/>
            <a:ext cx="7540200" cy="3667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uFillTx/>
                <a:latin typeface="Times New Roman"/>
              </a:rPr>
              <a:t>Conclusion</a:t>
            </a:r>
            <a:endParaRPr b="0" lang="en-US" sz="3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8520" cy="298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trike="noStrike" u="none">
                <a:solidFill>
                  <a:srgbClr val="000000"/>
                </a:solidFill>
                <a:uFillTx/>
                <a:latin typeface="Times New Roman"/>
              </a:rPr>
              <a:t>The proposed system successfully automates irrigation for arecanut farms using IoT-based monitoring and control.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-32400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trike="noStrike" u="none">
                <a:solidFill>
                  <a:srgbClr val="000000"/>
                </a:solidFill>
                <a:uFillTx/>
                <a:latin typeface="Times New Roman"/>
              </a:rPr>
              <a:t>By integrating soil moisture sensors, flow sensors, and motorized valves, the system ensures accurate and efficient water usage.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-32400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trike="noStrike" u="none">
                <a:solidFill>
                  <a:srgbClr val="000000"/>
                </a:solidFill>
                <a:uFillTx/>
                <a:latin typeface="Times New Roman"/>
              </a:rPr>
              <a:t>The system achieves water conservation, reducing wastage by supplying water only when soil moisture is below the threshold.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-32400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trike="noStrike" u="none">
                <a:solidFill>
                  <a:srgbClr val="000000"/>
                </a:solidFill>
                <a:uFillTx/>
                <a:latin typeface="Times New Roman"/>
              </a:rPr>
              <a:t>Farmers benefit from reduced manual labor, as the system provides both automatic and manual control modes.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-32400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trike="noStrike" u="none">
                <a:solidFill>
                  <a:srgbClr val="000000"/>
                </a:solidFill>
                <a:uFillTx/>
                <a:latin typeface="Times New Roman"/>
              </a:rPr>
              <a:t>The dashboard interface enhances usability by offering real-time monitoring of moisture, flow rate, and pump status.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214;p33"/>
          <p:cNvSpPr/>
          <p:nvPr/>
        </p:nvSpPr>
        <p:spPr>
          <a:xfrm>
            <a:off x="2982960" y="712800"/>
            <a:ext cx="56160" cy="56160"/>
          </a:xfrm>
          <a:custGeom>
            <a:avLst/>
            <a:gdLst>
              <a:gd name="textAreaLeft" fmla="*/ 0 w 56160"/>
              <a:gd name="textAreaRight" fmla="*/ 57240 w 56160"/>
              <a:gd name="textAreaTop" fmla="*/ 0 h 56160"/>
              <a:gd name="textAreaBottom" fmla="*/ 57240 h 56160"/>
            </a:gdLst>
            <a:ahLst/>
            <a:rect l="textAreaLeft" t="textAreaTop" r="textAreaRight" b="textAreaBottom"/>
            <a:pathLst>
              <a:path w="56514" h="56515">
                <a:moveTo>
                  <a:pt x="28145" y="0"/>
                </a:moveTo>
                <a:lnTo>
                  <a:pt x="17201" y="2207"/>
                </a:lnTo>
                <a:lnTo>
                  <a:pt x="8253" y="8227"/>
                </a:lnTo>
                <a:lnTo>
                  <a:pt x="2215" y="17157"/>
                </a:lnTo>
                <a:lnTo>
                  <a:pt x="0" y="28093"/>
                </a:lnTo>
                <a:lnTo>
                  <a:pt x="2215" y="39037"/>
                </a:lnTo>
                <a:lnTo>
                  <a:pt x="8253" y="47985"/>
                </a:lnTo>
                <a:lnTo>
                  <a:pt x="17201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3" y="50280"/>
                </a:lnTo>
                <a:lnTo>
                  <a:pt x="11109" y="45113"/>
                </a:lnTo>
                <a:lnTo>
                  <a:pt x="5952" y="37457"/>
                </a:lnTo>
                <a:lnTo>
                  <a:pt x="4062" y="28093"/>
                </a:lnTo>
                <a:lnTo>
                  <a:pt x="5952" y="18722"/>
                </a:lnTo>
                <a:lnTo>
                  <a:pt x="11109" y="11052"/>
                </a:lnTo>
                <a:lnTo>
                  <a:pt x="18763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7" y="5870"/>
                </a:lnTo>
                <a:lnTo>
                  <a:pt x="45181" y="11052"/>
                </a:lnTo>
                <a:lnTo>
                  <a:pt x="50338" y="18722"/>
                </a:lnTo>
                <a:lnTo>
                  <a:pt x="52228" y="28093"/>
                </a:lnTo>
                <a:lnTo>
                  <a:pt x="50338" y="37457"/>
                </a:lnTo>
                <a:lnTo>
                  <a:pt x="45181" y="45113"/>
                </a:lnTo>
                <a:lnTo>
                  <a:pt x="37527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uFillTx/>
              <a:latin typeface="Arial"/>
              <a:ea typeface="Arial"/>
            </a:endParaRPr>
          </a:p>
        </p:txBody>
      </p:sp>
      <p:sp>
        <p:nvSpPr>
          <p:cNvPr id="166" name="Google Shape;215;p33"/>
          <p:cNvSpPr/>
          <p:nvPr/>
        </p:nvSpPr>
        <p:spPr>
          <a:xfrm>
            <a:off x="2998800" y="725400"/>
            <a:ext cx="24480" cy="30600"/>
          </a:xfrm>
          <a:custGeom>
            <a:avLst/>
            <a:gdLst>
              <a:gd name="textAreaLeft" fmla="*/ 0 w 24480"/>
              <a:gd name="textAreaRight" fmla="*/ 25560 w 24480"/>
              <a:gd name="textAreaTop" fmla="*/ 0 h 30600"/>
              <a:gd name="textAreaBottom" fmla="*/ 31680 h 30600"/>
            </a:gdLst>
            <a:ahLst/>
            <a:rect l="textAreaLeft" t="textAreaTop" r="textAreaRight" b="textAreaBottom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39" y="5329"/>
                </a:lnTo>
                <a:lnTo>
                  <a:pt x="2188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37" y="18292"/>
                </a:lnTo>
                <a:lnTo>
                  <a:pt x="9727" y="18680"/>
                </a:lnTo>
                <a:lnTo>
                  <a:pt x="11465" y="19999"/>
                </a:lnTo>
                <a:lnTo>
                  <a:pt x="14470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39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4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26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39" y="5329"/>
                </a:lnTo>
                <a:close/>
              </a:path>
            </a:pathLst>
          </a:custGeom>
          <a:solidFill>
            <a:srgbClr val="231f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uFillTx/>
              <a:latin typeface="Arial"/>
              <a:ea typeface="Arial"/>
            </a:endParaRPr>
          </a:p>
        </p:txBody>
      </p:sp>
      <p:sp>
        <p:nvSpPr>
          <p:cNvPr id="167" name="PlaceHolder 4"/>
          <p:cNvSpPr/>
          <p:nvPr/>
        </p:nvSpPr>
        <p:spPr>
          <a:xfrm>
            <a:off x="18627840" y="10253160"/>
            <a:ext cx="1204200" cy="86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rm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D76772D6-F8F7-4302-8F13-F557F53DC78D}" type="slidenum">
              <a:rPr b="0" lang="en-IN" sz="22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8" name="Google Shape;217;p33"/>
          <p:cNvSpPr/>
          <p:nvPr/>
        </p:nvSpPr>
        <p:spPr>
          <a:xfrm>
            <a:off x="969840" y="2301840"/>
            <a:ext cx="18526680" cy="501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4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4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4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4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4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4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IN" sz="40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 </a:t>
            </a:r>
            <a:endParaRPr b="0" lang="en-US" sz="4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9" name="Google Shape;218;p33"/>
          <p:cNvSpPr/>
          <p:nvPr/>
        </p:nvSpPr>
        <p:spPr>
          <a:xfrm>
            <a:off x="37080" y="290520"/>
            <a:ext cx="906984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IN" sz="36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Future Enhancements</a:t>
            </a:r>
            <a:endParaRPr b="0" lang="en-US" sz="3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0" name=""/>
          <p:cNvSpPr/>
          <p:nvPr/>
        </p:nvSpPr>
        <p:spPr>
          <a:xfrm>
            <a:off x="848160" y="1094400"/>
            <a:ext cx="7338600" cy="360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</a:pPr>
            <a:r>
              <a:rPr b="0" lang="en-US" sz="1200" strike="noStrike" u="none">
                <a:solidFill>
                  <a:srgbClr val="000000"/>
                </a:solidFill>
                <a:uFillTx/>
                <a:latin typeface="Times New Roman"/>
                <a:ea typeface="Noto Sans CJK SC"/>
              </a:rPr>
              <a:t>1. Advanced Intelligence and Predictive Analytics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trike="noStrike" u="none">
                <a:solidFill>
                  <a:srgbClr val="000000"/>
                </a:solidFill>
                <a:uFillTx/>
                <a:latin typeface="Times New Roman"/>
                <a:ea typeface="Noto Sans CJK SC"/>
              </a:rPr>
              <a:t>Weather Forecast Integration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trike="noStrike" u="none">
                <a:solidFill>
                  <a:srgbClr val="000000"/>
                </a:solidFill>
                <a:uFillTx/>
                <a:latin typeface="Times New Roman"/>
                <a:ea typeface="Noto Sans CJK SC"/>
              </a:rPr>
              <a:t>Machine Learning for Predictive Irrigation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</a:pP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</a:pPr>
            <a:r>
              <a:rPr b="0" lang="en-US" sz="1200" strike="noStrike" u="none">
                <a:solidFill>
                  <a:srgbClr val="000000"/>
                </a:solidFill>
                <a:uFillTx/>
                <a:latin typeface="Times New Roman"/>
                <a:ea typeface="Noto Sans CJK SC"/>
              </a:rPr>
              <a:t>2. Integrated Farm Management Features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trike="noStrike" u="none">
                <a:solidFill>
                  <a:srgbClr val="000000"/>
                </a:solidFill>
                <a:uFillTx/>
                <a:latin typeface="Times New Roman"/>
                <a:ea typeface="Noto Sans CJK SC"/>
              </a:rPr>
              <a:t>Smart Fertigation System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trike="noStrike" u="none">
                <a:solidFill>
                  <a:srgbClr val="000000"/>
                </a:solidFill>
                <a:uFillTx/>
                <a:latin typeface="Times New Roman"/>
                <a:ea typeface="Noto Sans CJK SC"/>
              </a:rPr>
              <a:t>Expanded Environmental Sensing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</a:pP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</a:pPr>
            <a:r>
              <a:rPr b="0" lang="en-US" sz="1200" strike="noStrike" u="none">
                <a:solidFill>
                  <a:srgbClr val="000000"/>
                </a:solidFill>
                <a:uFillTx/>
                <a:latin typeface="Times New Roman"/>
                <a:ea typeface="Noto Sans CJK SC"/>
              </a:rPr>
              <a:t>3. Sustainability and Robustness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trike="noStrike" u="none">
                <a:solidFill>
                  <a:srgbClr val="000000"/>
                </a:solidFill>
                <a:uFillTx/>
                <a:latin typeface="Times New Roman"/>
                <a:ea typeface="Noto Sans CJK SC"/>
              </a:rPr>
              <a:t>Solar Power Integration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2"/>
          <p:cNvSpPr/>
          <p:nvPr/>
        </p:nvSpPr>
        <p:spPr>
          <a:xfrm>
            <a:off x="1835640" y="185760"/>
            <a:ext cx="5339520" cy="57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IN" sz="3600" strike="noStrike" u="none">
                <a:solidFill>
                  <a:schemeClr val="dk1"/>
                </a:solidFill>
                <a:uFillTx/>
                <a:latin typeface="Times New Roman"/>
                <a:ea typeface="Arial"/>
              </a:rPr>
              <a:t>References</a:t>
            </a:r>
            <a:endParaRPr b="0" lang="en-US" sz="3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2" name=""/>
          <p:cNvSpPr/>
          <p:nvPr/>
        </p:nvSpPr>
        <p:spPr>
          <a:xfrm>
            <a:off x="297360" y="891720"/>
            <a:ext cx="8509680" cy="412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just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n-US" sz="1100" strike="noStrike" u="none">
                <a:solidFill>
                  <a:srgbClr val="000000"/>
                </a:solidFill>
                <a:uFillTx/>
                <a:latin typeface="Times New Roman"/>
                <a:ea typeface="Arial"/>
              </a:rPr>
              <a:t>[1] SharathKumar KR, Mohan K, and Nirisha, “Arecanut Crop Disease Prediction using IoT and Machine Learning”, Journal of Science; Technology , vol. 5, no. 3, pp. 160–165, May 2020.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n-US" sz="1100" strike="noStrike" u="none">
                <a:solidFill>
                  <a:srgbClr val="000000"/>
                </a:solidFill>
                <a:uFillTx/>
                <a:latin typeface="Times New Roman"/>
                <a:ea typeface="Arial"/>
              </a:rPr>
              <a:t>[2] Jyothi R, Rachana S, Ranjitha R, Krishna Prasad R, “Smart Irrigation System Based on Iot”, IJAST, vol. 29, no. 3, pp. 5730 - 5737, Mar. 2020.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n-US" sz="1100" strike="noStrike" u="none">
                <a:solidFill>
                  <a:srgbClr val="000000"/>
                </a:solidFill>
                <a:uFillTx/>
                <a:latin typeface="Times New Roman"/>
                <a:ea typeface="Arial"/>
              </a:rPr>
              <a:t>[3] A. J. Rao, C. Bekal, Y. R. Manoj, R. Rakshitha, N. Poornima, “Automatic Detection of Crop Diseases and Smart Irrigation Using IoT and Image Processing,” in Advances in Communication and Computational Technology, Springer, pp. 343–353, 2021.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n-US" sz="1100" strike="noStrike" u="none">
                <a:solidFill>
                  <a:srgbClr val="000000"/>
                </a:solidFill>
                <a:uFillTx/>
                <a:latin typeface="Times New Roman"/>
                <a:ea typeface="Arial"/>
              </a:rPr>
              <a:t>[4] S. Ramya, A. M. Swetha, M. Doraipandian, “IoT Framework for Smart Irrigation Using Machine Learning Technique,” Journal of Computer Science, vol. 16, no. 3, pp. 355–363, Mar. 2020.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n-US" sz="1100" strike="noStrike" u="none">
                <a:solidFill>
                  <a:srgbClr val="000000"/>
                </a:solidFill>
                <a:uFillTx/>
                <a:latin typeface="Times New Roman"/>
                <a:ea typeface="Arial"/>
              </a:rPr>
              <a:t>[5] Raja Muthuramalingam, Reshnuvi Rathnam Velu, Harshini Baskar, Merun Hrithik Vellan Saminathan, “An IoT-Based Smart Irrigation System,” Engineering Proceedings, vol. 66, no. 1, pp. 13, July 2024.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n-US" sz="1100" strike="noStrike" u="none">
                <a:solidFill>
                  <a:srgbClr val="000000"/>
                </a:solidFill>
                <a:uFillTx/>
                <a:latin typeface="Times New Roman"/>
                <a:ea typeface="Arial"/>
              </a:rPr>
              <a:t>[6] I. Ravi, G. Prabhu, P. S. Shelake, R. Selvarajan, and V. B. Patel, “IoT enabled soil moisture sensor based irrigation in banana”, Ind. Horticulture, vol. 69, no. 6, pp. 17–21, Jan. 2025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n-US" sz="1100" strike="noStrike" u="none">
                <a:solidFill>
                  <a:srgbClr val="000000"/>
                </a:solidFill>
                <a:uFillTx/>
                <a:latin typeface="Times New Roman"/>
                <a:ea typeface="Arial"/>
              </a:rPr>
              <a:t>[7] Hema Losini Jayashanker, Nurmiza Othman, “IoT Based Irrigation and Fertigation System for Smart Smallholder Farming Application,” Emerging Advances in Integrated Technology, vol. 5, no. 1, pp. 16–25, July 2024.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n-US" sz="1100" strike="noStrike" u="none">
                <a:solidFill>
                  <a:srgbClr val="000000"/>
                </a:solidFill>
                <a:uFillTx/>
                <a:latin typeface="Times New Roman"/>
                <a:ea typeface="Arial"/>
              </a:rPr>
              <a:t>[8] Eddala Chandu, M. K. Shukla, “IoT-Based Smart Irrigation System for Mango Orchard,” in Artificial Intelligence and Machine Learning in Satellite Data Processing and Services, Springer, pp. 61–69, Jan. 2023.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n-US" sz="1100" strike="noStrike" u="none">
                <a:solidFill>
                  <a:srgbClr val="000000"/>
                </a:solidFill>
                <a:uFillTx/>
                <a:latin typeface="Times New Roman"/>
                <a:ea typeface="Arial"/>
              </a:rPr>
              <a:t>[9] D. Thakur, Y. Kumar, S. Vijendra, “Smart Irrigation and Intrusions Detection in Agricultural Fields Using IoT,” Procedia Computer Science, vol. 167, pp. 154–162, 2020.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n-US" sz="1100" strike="noStrike" u="none">
                <a:solidFill>
                  <a:srgbClr val="000000"/>
                </a:solidFill>
                <a:uFillTx/>
                <a:latin typeface="Times New Roman"/>
                <a:ea typeface="Arial"/>
              </a:rPr>
              <a:t>[10] Manish Vasant Gurao and U. B. Vaidya, “IOT based Smart Irrigation System,” International Journal of Engineering Research &amp; Technology (IJERT), vol. 11, no. 11, Nov. 2022.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1864440" y="2172600"/>
            <a:ext cx="5375880" cy="795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4800" strike="noStrike" u="none">
                <a:solidFill>
                  <a:schemeClr val="dk1"/>
                </a:solidFill>
                <a:uFillTx/>
                <a:latin typeface="Times New Roman"/>
                <a:ea typeface="Arial"/>
              </a:rPr>
              <a:t>THANK YOU</a:t>
            </a:r>
            <a:endParaRPr b="0" lang="en-US" sz="4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4_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4_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315</TotalTime>
  <Application>LibreOffice/24.8.7.2$Linux_X86_64 LibreOffice_project/480$Build-2</Application>
  <AppVersion>15.0000</AppVersion>
  <Words>2053</Words>
  <Paragraphs>176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ksj</dc:creator>
  <dc:description/>
  <dc:language>en-US</dc:language>
  <cp:lastModifiedBy/>
  <dcterms:modified xsi:type="dcterms:W3CDTF">2025-09-04T16:14:33Z</dcterms:modified>
  <cp:revision>30</cp:revision>
  <dc:subject/>
  <dc:title>Title of the Major Project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11</vt:i4>
  </property>
  <property fmtid="{D5CDD505-2E9C-101B-9397-08002B2CF9AE}" pid="3" name="PresentationFormat">
    <vt:lpwstr>On-screen Show (16:9)</vt:lpwstr>
  </property>
  <property fmtid="{D5CDD505-2E9C-101B-9397-08002B2CF9AE}" pid="4" name="Slides">
    <vt:i4>15</vt:i4>
  </property>
</Properties>
</file>